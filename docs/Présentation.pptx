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18288000" cy="10287000"/>
  <p:notesSz cx="6858000" cy="9144000"/>
  <p:embeddedFontLst>
    <p:embeddedFont>
      <p:font typeface="Montserrat Bold" charset="1" panose="00000800000000000000"/>
      <p:regular r:id="rId31"/>
    </p:embeddedFont>
    <p:embeddedFont>
      <p:font typeface="Open Sans 1 Bold" charset="1" panose="020B0806030504020204"/>
      <p:regular r:id="rId32"/>
    </p:embeddedFont>
    <p:embeddedFont>
      <p:font typeface="Open Sauce Bold" charset="1" panose="00000800000000000000"/>
      <p:regular r:id="rId33"/>
    </p:embeddedFont>
    <p:embeddedFont>
      <p:font typeface="Arimo Bold" charset="1" panose="020B0704020202020204"/>
      <p:regular r:id="rId34"/>
    </p:embeddedFont>
    <p:embeddedFont>
      <p:font typeface="Telegraf Bold" charset="1" panose="00000800000000000000"/>
      <p:regular r:id="rId35"/>
    </p:embeddedFont>
    <p:embeddedFont>
      <p:font typeface="Montserrat" charset="1" panose="00000500000000000000"/>
      <p:regular r:id="rId36"/>
    </p:embeddedFont>
    <p:embeddedFont>
      <p:font typeface="Poppins Bold" charset="1" panose="00000800000000000000"/>
      <p:regular r:id="rId37"/>
    </p:embeddedFont>
    <p:embeddedFont>
      <p:font typeface="Open Sans 2 Italics" charset="1" panose="00000000000000000000"/>
      <p:regular r:id="rId38"/>
    </p:embeddedFont>
    <p:embeddedFont>
      <p:font typeface="Open Sans 1" charset="1" panose="020B0606030504020204"/>
      <p:regular r:id="rId39"/>
    </p:embeddedFont>
    <p:embeddedFont>
      <p:font typeface="Poppins" charset="1" panose="00000500000000000000"/>
      <p:regular r:id="rId40"/>
    </p:embeddedFont>
    <p:embeddedFont>
      <p:font typeface="Open Sauce" charset="1" panose="00000500000000000000"/>
      <p:regular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svg" Type="http://schemas.openxmlformats.org/officeDocument/2006/relationships/image"/><Relationship Id="rId12" Target="../media/image18.png" Type="http://schemas.openxmlformats.org/officeDocument/2006/relationships/image"/><Relationship Id="rId13" Target="../media/image19.svg" Type="http://schemas.openxmlformats.org/officeDocument/2006/relationships/image"/><Relationship Id="rId14" Target="../media/image20.jpeg" Type="http://schemas.openxmlformats.org/officeDocument/2006/relationships/image"/><Relationship Id="rId15" Target="../media/image21.png" Type="http://schemas.openxmlformats.org/officeDocument/2006/relationships/image"/><Relationship Id="rId16" Target="../media/image22.svg" Type="http://schemas.openxmlformats.org/officeDocument/2006/relationships/image"/><Relationship Id="rId17" Target="../media/image23.png" Type="http://schemas.openxmlformats.org/officeDocument/2006/relationships/image"/><Relationship Id="rId18" Target="../media/image24.svg" Type="http://schemas.openxmlformats.org/officeDocument/2006/relationships/image"/><Relationship Id="rId19" Target="../media/image25.png" Type="http://schemas.openxmlformats.org/officeDocument/2006/relationships/image"/><Relationship Id="rId2" Target="../media/image10.png" Type="http://schemas.openxmlformats.org/officeDocument/2006/relationships/image"/><Relationship Id="rId20" Target="../media/image26.svg" Type="http://schemas.openxmlformats.org/officeDocument/2006/relationships/image"/><Relationship Id="rId21" Target="../media/image27.png" Type="http://schemas.openxmlformats.org/officeDocument/2006/relationships/image"/><Relationship Id="rId22" Target="../media/image28.svg" Type="http://schemas.openxmlformats.org/officeDocument/2006/relationships/image"/><Relationship Id="rId23" Target="../media/image29.png" Type="http://schemas.openxmlformats.org/officeDocument/2006/relationships/image"/><Relationship Id="rId24" Target="../media/image30.sv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svg" Type="http://schemas.openxmlformats.org/officeDocument/2006/relationships/image"/><Relationship Id="rId12" Target="../media/image35.png" Type="http://schemas.openxmlformats.org/officeDocument/2006/relationships/image"/><Relationship Id="rId13" Target="../media/image36.svg" Type="http://schemas.openxmlformats.org/officeDocument/2006/relationships/image"/><Relationship Id="rId14" Target="../media/image37.png" Type="http://schemas.openxmlformats.org/officeDocument/2006/relationships/image"/><Relationship Id="rId15" Target="../media/image38.svg" Type="http://schemas.openxmlformats.org/officeDocument/2006/relationships/image"/><Relationship Id="rId16" Target="../media/image39.jpeg" Type="http://schemas.openxmlformats.org/officeDocument/2006/relationships/image"/><Relationship Id="rId17" Target="../media/image40.png" Type="http://schemas.openxmlformats.org/officeDocument/2006/relationships/image"/><Relationship Id="rId18" Target="../media/image41.svg" Type="http://schemas.openxmlformats.org/officeDocument/2006/relationships/image"/><Relationship Id="rId19" Target="../media/image8.png" Type="http://schemas.openxmlformats.org/officeDocument/2006/relationships/image"/><Relationship Id="rId2" Target="../media/image12.png" Type="http://schemas.openxmlformats.org/officeDocument/2006/relationships/image"/><Relationship Id="rId20" Target="../media/image9.svg" Type="http://schemas.openxmlformats.org/officeDocument/2006/relationships/image"/><Relationship Id="rId3" Target="../media/image13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Relationship Id="rId8" Target="../media/image33.png" Type="http://schemas.openxmlformats.org/officeDocument/2006/relationships/image"/><Relationship Id="rId9" Target="../media/image3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9.svg" Type="http://schemas.openxmlformats.org/officeDocument/2006/relationships/image"/><Relationship Id="rId12" Target="../media/image46.png" Type="http://schemas.openxmlformats.org/officeDocument/2006/relationships/image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42.png" Type="http://schemas.openxmlformats.org/officeDocument/2006/relationships/image"/><Relationship Id="rId5" Target="../media/image43.svg" Type="http://schemas.openxmlformats.org/officeDocument/2006/relationships/image"/><Relationship Id="rId6" Target="../media/image44.png" Type="http://schemas.openxmlformats.org/officeDocument/2006/relationships/image"/><Relationship Id="rId7" Target="../media/image45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4.svg" Type="http://schemas.openxmlformats.org/officeDocument/2006/relationships/image"/><Relationship Id="rId11" Target="../media/image8.png" Type="http://schemas.openxmlformats.org/officeDocument/2006/relationships/image"/><Relationship Id="rId12" Target="../media/image9.svg" Type="http://schemas.openxmlformats.org/officeDocument/2006/relationships/image"/><Relationship Id="rId13" Target="../media/image55.png" Type="http://schemas.openxmlformats.org/officeDocument/2006/relationships/image"/><Relationship Id="rId14" Target="../media/image56.png" Type="http://schemas.openxmlformats.org/officeDocument/2006/relationships/image"/><Relationship Id="rId15" Target="../media/image57.svg" Type="http://schemas.openxmlformats.org/officeDocument/2006/relationships/image"/><Relationship Id="rId2" Target="../media/image47.png" Type="http://schemas.openxmlformats.org/officeDocument/2006/relationships/image"/><Relationship Id="rId3" Target="../media/image42.png" Type="http://schemas.openxmlformats.org/officeDocument/2006/relationships/image"/><Relationship Id="rId4" Target="../media/image48.svg" Type="http://schemas.openxmlformats.org/officeDocument/2006/relationships/image"/><Relationship Id="rId5" Target="../media/image49.png" Type="http://schemas.openxmlformats.org/officeDocument/2006/relationships/image"/><Relationship Id="rId6" Target="../media/image50.svg" Type="http://schemas.openxmlformats.org/officeDocument/2006/relationships/image"/><Relationship Id="rId7" Target="../media/image51.png" Type="http://schemas.openxmlformats.org/officeDocument/2006/relationships/image"/><Relationship Id="rId8" Target="../media/image52.svg" Type="http://schemas.openxmlformats.org/officeDocument/2006/relationships/image"/><Relationship Id="rId9" Target="../media/image5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3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8.png" Type="http://schemas.openxmlformats.org/officeDocument/2006/relationships/image"/><Relationship Id="rId14" Target="../media/image9.svg" Type="http://schemas.openxmlformats.org/officeDocument/2006/relationships/image"/><Relationship Id="rId2" Target="../media/image58.pn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59.png" Type="http://schemas.openxmlformats.org/officeDocument/2006/relationships/image"/><Relationship Id="rId6" Target="../media/image60.svg" Type="http://schemas.openxmlformats.org/officeDocument/2006/relationships/image"/><Relationship Id="rId7" Target="../media/image61.png" Type="http://schemas.openxmlformats.org/officeDocument/2006/relationships/image"/><Relationship Id="rId8" Target="../media/image62.svg" Type="http://schemas.openxmlformats.org/officeDocument/2006/relationships/image"/><Relationship Id="rId9" Target="../media/image4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1.png" Type="http://schemas.openxmlformats.org/officeDocument/2006/relationships/image"/><Relationship Id="rId11" Target="../media/image72.png" Type="http://schemas.openxmlformats.org/officeDocument/2006/relationships/image"/><Relationship Id="rId12" Target="../media/image73.png" Type="http://schemas.openxmlformats.org/officeDocument/2006/relationships/image"/><Relationship Id="rId13" Target="../media/image74.png" Type="http://schemas.openxmlformats.org/officeDocument/2006/relationships/image"/><Relationship Id="rId14" Target="../media/image75.png" Type="http://schemas.openxmlformats.org/officeDocument/2006/relationships/image"/><Relationship Id="rId2" Target="../media/image64.png" Type="http://schemas.openxmlformats.org/officeDocument/2006/relationships/image"/><Relationship Id="rId3" Target="../media/image65.svg" Type="http://schemas.openxmlformats.org/officeDocument/2006/relationships/image"/><Relationship Id="rId4" Target="../media/image42.png" Type="http://schemas.openxmlformats.org/officeDocument/2006/relationships/image"/><Relationship Id="rId5" Target="../media/image66.svg" Type="http://schemas.openxmlformats.org/officeDocument/2006/relationships/image"/><Relationship Id="rId6" Target="../media/image67.png" Type="http://schemas.openxmlformats.org/officeDocument/2006/relationships/image"/><Relationship Id="rId7" Target="../media/image68.svg" Type="http://schemas.openxmlformats.org/officeDocument/2006/relationships/image"/><Relationship Id="rId8" Target="../media/image69.png" Type="http://schemas.openxmlformats.org/officeDocument/2006/relationships/image"/><Relationship Id="rId9" Target="../media/image7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.jpeg" Type="http://schemas.openxmlformats.org/officeDocument/2006/relationships/image"/><Relationship Id="rId11" Target="../media/image40.png" Type="http://schemas.openxmlformats.org/officeDocument/2006/relationships/image"/><Relationship Id="rId12" Target="../media/image41.svg" Type="http://schemas.openxmlformats.org/officeDocument/2006/relationships/image"/><Relationship Id="rId13" Target="../media/image8.png" Type="http://schemas.openxmlformats.org/officeDocument/2006/relationships/image"/><Relationship Id="rId14" Target="../media/image9.svg" Type="http://schemas.openxmlformats.org/officeDocument/2006/relationships/image"/><Relationship Id="rId15" Target="../media/image76.png" Type="http://schemas.openxmlformats.org/officeDocument/2006/relationships/image"/><Relationship Id="rId16" Target="../media/image77.svg" Type="http://schemas.openxmlformats.org/officeDocument/2006/relationships/image"/><Relationship Id="rId17" Target="../media/image78.png" Type="http://schemas.openxmlformats.org/officeDocument/2006/relationships/image"/><Relationship Id="rId18" Target="../media/image79.svg" Type="http://schemas.openxmlformats.org/officeDocument/2006/relationships/image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Relationship Id="rId8" Target="../media/image33.png" Type="http://schemas.openxmlformats.org/officeDocument/2006/relationships/image"/><Relationship Id="rId9" Target="../media/image3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5.png" Type="http://schemas.openxmlformats.org/officeDocument/2006/relationships/image"/><Relationship Id="rId2" Target="../media/image42.png" Type="http://schemas.openxmlformats.org/officeDocument/2006/relationships/image"/><Relationship Id="rId3" Target="../media/image80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81.png" Type="http://schemas.openxmlformats.org/officeDocument/2006/relationships/image"/><Relationship Id="rId7" Target="../media/image82.svg" Type="http://schemas.openxmlformats.org/officeDocument/2006/relationships/image"/><Relationship Id="rId8" Target="../media/image83.png" Type="http://schemas.openxmlformats.org/officeDocument/2006/relationships/image"/><Relationship Id="rId9" Target="../media/image8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91.png" Type="http://schemas.openxmlformats.org/officeDocument/2006/relationships/image"/><Relationship Id="rId12" Target="../media/image92.svg" Type="http://schemas.openxmlformats.org/officeDocument/2006/relationships/image"/><Relationship Id="rId13" Target="../media/image93.png" Type="http://schemas.openxmlformats.org/officeDocument/2006/relationships/image"/><Relationship Id="rId14" Target="../media/image94.svg" Type="http://schemas.openxmlformats.org/officeDocument/2006/relationships/image"/><Relationship Id="rId15" Target="../media/image95.png" Type="http://schemas.openxmlformats.org/officeDocument/2006/relationships/image"/><Relationship Id="rId16" Target="../media/image96.svg" Type="http://schemas.openxmlformats.org/officeDocument/2006/relationships/image"/><Relationship Id="rId17" Target="../media/image97.png" Type="http://schemas.openxmlformats.org/officeDocument/2006/relationships/image"/><Relationship Id="rId18" Target="../media/image98.svg" Type="http://schemas.openxmlformats.org/officeDocument/2006/relationships/image"/><Relationship Id="rId2" Target="../media/image42.png" Type="http://schemas.openxmlformats.org/officeDocument/2006/relationships/image"/><Relationship Id="rId3" Target="../media/image63.svg" Type="http://schemas.openxmlformats.org/officeDocument/2006/relationships/image"/><Relationship Id="rId4" Target="../media/image86.png" Type="http://schemas.openxmlformats.org/officeDocument/2006/relationships/image"/><Relationship Id="rId5" Target="../media/image87.svg" Type="http://schemas.openxmlformats.org/officeDocument/2006/relationships/image"/><Relationship Id="rId6" Target="../media/image88.svg" Type="http://schemas.openxmlformats.org/officeDocument/2006/relationships/image"/><Relationship Id="rId7" Target="../media/image89.png" Type="http://schemas.openxmlformats.org/officeDocument/2006/relationships/image"/><Relationship Id="rId8" Target="../media/image90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Relationship Id="rId3" Target="../media/image63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99.png" Type="http://schemas.openxmlformats.org/officeDocument/2006/relationships/image"/><Relationship Id="rId7" Target="../media/image100.svg" Type="http://schemas.openxmlformats.org/officeDocument/2006/relationships/image"/><Relationship Id="rId8" Target="../media/image10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Relationship Id="rId3" Target="../media/image63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99.png" Type="http://schemas.openxmlformats.org/officeDocument/2006/relationships/image"/><Relationship Id="rId7" Target="../media/image100.svg" Type="http://schemas.openxmlformats.org/officeDocument/2006/relationships/image"/><Relationship Id="rId8" Target="../media/image10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.jpeg" Type="http://schemas.openxmlformats.org/officeDocument/2006/relationships/image"/><Relationship Id="rId11" Target="../media/image40.png" Type="http://schemas.openxmlformats.org/officeDocument/2006/relationships/image"/><Relationship Id="rId12" Target="../media/image41.svg" Type="http://schemas.openxmlformats.org/officeDocument/2006/relationships/image"/><Relationship Id="rId13" Target="../media/image8.png" Type="http://schemas.openxmlformats.org/officeDocument/2006/relationships/image"/><Relationship Id="rId14" Target="../media/image9.svg" Type="http://schemas.openxmlformats.org/officeDocument/2006/relationships/image"/><Relationship Id="rId15" Target="../media/image18.png" Type="http://schemas.openxmlformats.org/officeDocument/2006/relationships/image"/><Relationship Id="rId16" Target="../media/image19.svg" Type="http://schemas.openxmlformats.org/officeDocument/2006/relationships/image"/><Relationship Id="rId17" Target="../media/image76.png" Type="http://schemas.openxmlformats.org/officeDocument/2006/relationships/image"/><Relationship Id="rId18" Target="../media/image77.svg" Type="http://schemas.openxmlformats.org/officeDocument/2006/relationships/image"/><Relationship Id="rId19" Target="../media/image78.png" Type="http://schemas.openxmlformats.org/officeDocument/2006/relationships/image"/><Relationship Id="rId2" Target="../media/image31.png" Type="http://schemas.openxmlformats.org/officeDocument/2006/relationships/image"/><Relationship Id="rId20" Target="../media/image79.svg" Type="http://schemas.openxmlformats.org/officeDocument/2006/relationships/image"/><Relationship Id="rId3" Target="../media/image32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7.png" Type="http://schemas.openxmlformats.org/officeDocument/2006/relationships/image"/><Relationship Id="rId11" Target="../media/image108.svg" Type="http://schemas.openxmlformats.org/officeDocument/2006/relationships/image"/><Relationship Id="rId12" Target="../media/image109.png" Type="http://schemas.openxmlformats.org/officeDocument/2006/relationships/image"/><Relationship Id="rId13" Target="../media/image110.svg" Type="http://schemas.openxmlformats.org/officeDocument/2006/relationships/image"/><Relationship Id="rId14" Target="../media/image111.png" Type="http://schemas.openxmlformats.org/officeDocument/2006/relationships/image"/><Relationship Id="rId15" Target="../media/image112.svg" Type="http://schemas.openxmlformats.org/officeDocument/2006/relationships/image"/><Relationship Id="rId16" Target="../media/image113.png" Type="http://schemas.openxmlformats.org/officeDocument/2006/relationships/image"/><Relationship Id="rId17" Target="../media/image114.svg" Type="http://schemas.openxmlformats.org/officeDocument/2006/relationships/image"/><Relationship Id="rId18" Target="../media/image115.png" Type="http://schemas.openxmlformats.org/officeDocument/2006/relationships/image"/><Relationship Id="rId2" Target="../media/image42.png" Type="http://schemas.openxmlformats.org/officeDocument/2006/relationships/image"/><Relationship Id="rId3" Target="../media/image63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03.png" Type="http://schemas.openxmlformats.org/officeDocument/2006/relationships/image"/><Relationship Id="rId7" Target="../media/image104.svg" Type="http://schemas.openxmlformats.org/officeDocument/2006/relationships/image"/><Relationship Id="rId8" Target="../media/image105.png" Type="http://schemas.openxmlformats.org/officeDocument/2006/relationships/image"/><Relationship Id="rId9" Target="../media/image106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8.png" Type="http://schemas.openxmlformats.org/officeDocument/2006/relationships/image"/><Relationship Id="rId11" Target="../media/image119.svg" Type="http://schemas.openxmlformats.org/officeDocument/2006/relationships/image"/><Relationship Id="rId12" Target="../media/image120.png" Type="http://schemas.openxmlformats.org/officeDocument/2006/relationships/image"/><Relationship Id="rId13" Target="../media/image121.svg" Type="http://schemas.openxmlformats.org/officeDocument/2006/relationships/image"/><Relationship Id="rId14" Target="../media/image122.png" Type="http://schemas.openxmlformats.org/officeDocument/2006/relationships/image"/><Relationship Id="rId2" Target="../media/image42.png" Type="http://schemas.openxmlformats.org/officeDocument/2006/relationships/image"/><Relationship Id="rId3" Target="../media/image63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99.png" Type="http://schemas.openxmlformats.org/officeDocument/2006/relationships/image"/><Relationship Id="rId7" Target="../media/image100.svg" Type="http://schemas.openxmlformats.org/officeDocument/2006/relationships/image"/><Relationship Id="rId8" Target="../media/image116.png" Type="http://schemas.openxmlformats.org/officeDocument/2006/relationships/image"/><Relationship Id="rId9" Target="../media/image117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3.png" Type="http://schemas.openxmlformats.org/officeDocument/2006/relationships/image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42.png" Type="http://schemas.openxmlformats.org/officeDocument/2006/relationships/image"/><Relationship Id="rId5" Target="../media/image63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9.png" Type="http://schemas.openxmlformats.org/officeDocument/2006/relationships/image"/><Relationship Id="rId11" Target="../media/image110.svg" Type="http://schemas.openxmlformats.org/officeDocument/2006/relationships/image"/><Relationship Id="rId12" Target="../media/image124.png" Type="http://schemas.openxmlformats.org/officeDocument/2006/relationships/image"/><Relationship Id="rId13" Target="../media/image125.svg" Type="http://schemas.openxmlformats.org/officeDocument/2006/relationships/image"/><Relationship Id="rId14" Target="../media/image126.png" Type="http://schemas.openxmlformats.org/officeDocument/2006/relationships/image"/><Relationship Id="rId15" Target="../media/image127.svg" Type="http://schemas.openxmlformats.org/officeDocument/2006/relationships/image"/><Relationship Id="rId16" Target="../media/image128.png" Type="http://schemas.openxmlformats.org/officeDocument/2006/relationships/image"/><Relationship Id="rId17" Target="../media/image129.svg" Type="http://schemas.openxmlformats.org/officeDocument/2006/relationships/image"/><Relationship Id="rId18" Target="../media/image130.png" Type="http://schemas.openxmlformats.org/officeDocument/2006/relationships/image"/><Relationship Id="rId19" Target="../media/image131.svg" Type="http://schemas.openxmlformats.org/officeDocument/2006/relationships/image"/><Relationship Id="rId2" Target="../media/image42.png" Type="http://schemas.openxmlformats.org/officeDocument/2006/relationships/image"/><Relationship Id="rId20" Target="../media/image132.png" Type="http://schemas.openxmlformats.org/officeDocument/2006/relationships/image"/><Relationship Id="rId21" Target="../media/image133.svg" Type="http://schemas.openxmlformats.org/officeDocument/2006/relationships/image"/><Relationship Id="rId22" Target="../media/image134.png" Type="http://schemas.openxmlformats.org/officeDocument/2006/relationships/image"/><Relationship Id="rId23" Target="../media/image135.svg" Type="http://schemas.openxmlformats.org/officeDocument/2006/relationships/image"/><Relationship Id="rId24" Target="../media/image136.png" Type="http://schemas.openxmlformats.org/officeDocument/2006/relationships/image"/><Relationship Id="rId25" Target="../media/image137.svg" Type="http://schemas.openxmlformats.org/officeDocument/2006/relationships/image"/><Relationship Id="rId26" Target="../media/image138.png" Type="http://schemas.openxmlformats.org/officeDocument/2006/relationships/image"/><Relationship Id="rId27" Target="../media/image139.svg" Type="http://schemas.openxmlformats.org/officeDocument/2006/relationships/image"/><Relationship Id="rId28" Target="../media/image140.png" Type="http://schemas.openxmlformats.org/officeDocument/2006/relationships/image"/><Relationship Id="rId29" Target="../media/image141.svg" Type="http://schemas.openxmlformats.org/officeDocument/2006/relationships/image"/><Relationship Id="rId3" Target="../media/image63.svg" Type="http://schemas.openxmlformats.org/officeDocument/2006/relationships/image"/><Relationship Id="rId30" Target="../media/image142.png" Type="http://schemas.openxmlformats.org/officeDocument/2006/relationships/image"/><Relationship Id="rId31" Target="../media/image143.svg" Type="http://schemas.openxmlformats.org/officeDocument/2006/relationships/image"/><Relationship Id="rId32" Target="../media/image144.png" Type="http://schemas.openxmlformats.org/officeDocument/2006/relationships/image"/><Relationship Id="rId33" Target="../media/image145.svg" Type="http://schemas.openxmlformats.org/officeDocument/2006/relationships/image"/><Relationship Id="rId34" Target="../media/image146.png" Type="http://schemas.openxmlformats.org/officeDocument/2006/relationships/image"/><Relationship Id="rId35" Target="../media/image147.svg" Type="http://schemas.openxmlformats.org/officeDocument/2006/relationships/image"/><Relationship Id="rId36" Target="../media/image148.png" Type="http://schemas.openxmlformats.org/officeDocument/2006/relationships/image"/><Relationship Id="rId37" Target="../media/image149.svg" Type="http://schemas.openxmlformats.org/officeDocument/2006/relationships/image"/><Relationship Id="rId38" Target="../media/image150.png" Type="http://schemas.openxmlformats.org/officeDocument/2006/relationships/image"/><Relationship Id="rId39" Target="../media/image151.svg" Type="http://schemas.openxmlformats.org/officeDocument/2006/relationships/image"/><Relationship Id="rId4" Target="../media/image10.png" Type="http://schemas.openxmlformats.org/officeDocument/2006/relationships/image"/><Relationship Id="rId40" Target="../media/image152.png" Type="http://schemas.openxmlformats.org/officeDocument/2006/relationships/image"/><Relationship Id="rId41" Target="../media/image153.svg" Type="http://schemas.openxmlformats.org/officeDocument/2006/relationships/image"/><Relationship Id="rId42" Target="../media/image154.png" Type="http://schemas.openxmlformats.org/officeDocument/2006/relationships/image"/><Relationship Id="rId43" Target="../media/image155.svg" Type="http://schemas.openxmlformats.org/officeDocument/2006/relationships/image"/><Relationship Id="rId44" Target="../media/image156.png" Type="http://schemas.openxmlformats.org/officeDocument/2006/relationships/image"/><Relationship Id="rId45" Target="../media/image157.svg" Type="http://schemas.openxmlformats.org/officeDocument/2006/relationships/image"/><Relationship Id="rId46" Target="../media/image111.png" Type="http://schemas.openxmlformats.org/officeDocument/2006/relationships/image"/><Relationship Id="rId47" Target="../media/image112.svg" Type="http://schemas.openxmlformats.org/officeDocument/2006/relationships/image"/><Relationship Id="rId48" Target="../media/image158.png" Type="http://schemas.openxmlformats.org/officeDocument/2006/relationships/image"/><Relationship Id="rId49" Target="../media/image159.svg" Type="http://schemas.openxmlformats.org/officeDocument/2006/relationships/image"/><Relationship Id="rId5" Target="../media/image11.svg" Type="http://schemas.openxmlformats.org/officeDocument/2006/relationships/image"/><Relationship Id="rId50" Target="../media/image113.png" Type="http://schemas.openxmlformats.org/officeDocument/2006/relationships/image"/><Relationship Id="rId51" Target="../media/image114.svg" Type="http://schemas.openxmlformats.org/officeDocument/2006/relationships/image"/><Relationship Id="rId52" Target="../media/image12.png" Type="http://schemas.openxmlformats.org/officeDocument/2006/relationships/image"/><Relationship Id="rId53" Target="../media/image13.svg" Type="http://schemas.openxmlformats.org/officeDocument/2006/relationships/image"/><Relationship Id="rId54" Target="../media/image8.png" Type="http://schemas.openxmlformats.org/officeDocument/2006/relationships/image"/><Relationship Id="rId55" Target="../media/image9.svg" Type="http://schemas.openxmlformats.org/officeDocument/2006/relationships/image"/><Relationship Id="rId6" Target="../media/image105.png" Type="http://schemas.openxmlformats.org/officeDocument/2006/relationships/image"/><Relationship Id="rId7" Target="../media/image106.svg" Type="http://schemas.openxmlformats.org/officeDocument/2006/relationships/image"/><Relationship Id="rId8" Target="../media/image107.png" Type="http://schemas.openxmlformats.org/officeDocument/2006/relationships/image"/><Relationship Id="rId9" Target="../media/image108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0.png" Type="http://schemas.openxmlformats.org/officeDocument/2006/relationships/image"/><Relationship Id="rId3" Target="../media/image161.svg" Type="http://schemas.openxmlformats.org/officeDocument/2006/relationships/image"/><Relationship Id="rId4" Target="../media/image64.png" Type="http://schemas.openxmlformats.org/officeDocument/2006/relationships/image"/><Relationship Id="rId5" Target="../media/image65.svg" Type="http://schemas.openxmlformats.org/officeDocument/2006/relationships/image"/><Relationship Id="rId6" Target="../media/image42.png" Type="http://schemas.openxmlformats.org/officeDocument/2006/relationships/image"/><Relationship Id="rId7" Target="../media/image162.svg" Type="http://schemas.openxmlformats.org/officeDocument/2006/relationships/image"/><Relationship Id="rId8" Target="../media/image163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Relationship Id="rId3" Target="../media/image63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85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Relationship Id="rId3" Target="../media/image63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64.png" Type="http://schemas.openxmlformats.org/officeDocument/2006/relationships/image"/><Relationship Id="rId7" Target="../media/image165.svg" Type="http://schemas.openxmlformats.org/officeDocument/2006/relationships/image"/><Relationship Id="rId8" Target="../media/image166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67.png" Type="http://schemas.openxmlformats.org/officeDocument/2006/relationships/image"/><Relationship Id="rId5" Target="../media/image168.svg" Type="http://schemas.openxmlformats.org/officeDocument/2006/relationships/image"/><Relationship Id="rId6" Target="../media/image99.png" Type="http://schemas.openxmlformats.org/officeDocument/2006/relationships/image"/><Relationship Id="rId7" Target="../media/image100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.jpeg" Type="http://schemas.openxmlformats.org/officeDocument/2006/relationships/image"/><Relationship Id="rId11" Target="../media/image40.png" Type="http://schemas.openxmlformats.org/officeDocument/2006/relationships/image"/><Relationship Id="rId12" Target="../media/image41.svg" Type="http://schemas.openxmlformats.org/officeDocument/2006/relationships/image"/><Relationship Id="rId13" Target="../media/image8.png" Type="http://schemas.openxmlformats.org/officeDocument/2006/relationships/image"/><Relationship Id="rId14" Target="../media/image9.svg" Type="http://schemas.openxmlformats.org/officeDocument/2006/relationships/image"/><Relationship Id="rId15" Target="../media/image169.png" Type="http://schemas.openxmlformats.org/officeDocument/2006/relationships/image"/><Relationship Id="rId16" Target="../media/image170.svg" Type="http://schemas.openxmlformats.org/officeDocument/2006/relationships/image"/><Relationship Id="rId17" Target="../media/image171.png" Type="http://schemas.openxmlformats.org/officeDocument/2006/relationships/image"/><Relationship Id="rId18" Target="../media/image172.svg" Type="http://schemas.openxmlformats.org/officeDocument/2006/relationships/image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176.png" Type="http://schemas.openxmlformats.org/officeDocument/2006/relationships/image"/><Relationship Id="rId12" Target="../media/image177.svg" Type="http://schemas.openxmlformats.org/officeDocument/2006/relationships/image"/><Relationship Id="rId2" Target="../media/image42.png" Type="http://schemas.openxmlformats.org/officeDocument/2006/relationships/image"/><Relationship Id="rId3" Target="../media/image63.svg" Type="http://schemas.openxmlformats.org/officeDocument/2006/relationships/image"/><Relationship Id="rId4" Target="../media/image173.png" Type="http://schemas.openxmlformats.org/officeDocument/2006/relationships/image"/><Relationship Id="rId5" Target="../media/image174.svg" Type="http://schemas.openxmlformats.org/officeDocument/2006/relationships/image"/><Relationship Id="rId6" Target="../media/image175.svg" Type="http://schemas.openxmlformats.org/officeDocument/2006/relationships/image"/><Relationship Id="rId7" Target="../media/image89.png" Type="http://schemas.openxmlformats.org/officeDocument/2006/relationships/image"/><Relationship Id="rId8" Target="../media/image90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0.png" Type="http://schemas.openxmlformats.org/officeDocument/2006/relationships/image"/><Relationship Id="rId11" Target="../media/image181.svg" Type="http://schemas.openxmlformats.org/officeDocument/2006/relationships/image"/><Relationship Id="rId12" Target="https://docs.oracle.com/en-us/iaas/mysql-database/doc/getting-started.html" TargetMode="External" Type="http://schemas.openxmlformats.org/officeDocument/2006/relationships/hyperlink"/><Relationship Id="rId13" Target="https://openjfx.io" TargetMode="External" Type="http://schemas.openxmlformats.org/officeDocument/2006/relationships/hyperlink"/><Relationship Id="rId14" Target="https://www.uml-diagrams.org" TargetMode="External" Type="http://schemas.openxmlformats.org/officeDocument/2006/relationships/hyperlink"/><Relationship Id="rId2" Target="../media/image42.png" Type="http://schemas.openxmlformats.org/officeDocument/2006/relationships/image"/><Relationship Id="rId3" Target="../media/image63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78.png" Type="http://schemas.openxmlformats.org/officeDocument/2006/relationships/image"/><Relationship Id="rId7" Target="../media/image179.svg" Type="http://schemas.openxmlformats.org/officeDocument/2006/relationships/image"/><Relationship Id="rId8" Target="../media/image99.png" Type="http://schemas.openxmlformats.org/officeDocument/2006/relationships/image"/><Relationship Id="rId9" Target="../media/image100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82.png" Type="http://schemas.openxmlformats.org/officeDocument/2006/relationships/image"/><Relationship Id="rId4" Target="../media/image183.svg" Type="http://schemas.openxmlformats.org/officeDocument/2006/relationships/image"/><Relationship Id="rId5" Target="../media/image184.png" Type="http://schemas.openxmlformats.org/officeDocument/2006/relationships/image"/><Relationship Id="rId6" Target="../media/image185.svg" Type="http://schemas.openxmlformats.org/officeDocument/2006/relationships/image"/><Relationship Id="rId7" Target="../media/image186.png" Type="http://schemas.openxmlformats.org/officeDocument/2006/relationships/image"/><Relationship Id="rId8" Target="../media/image18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57497" y="-3182026"/>
            <a:ext cx="23698200" cy="13944600"/>
            <a:chOff x="0" y="0"/>
            <a:chExt cx="31597600" cy="1859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597600" cy="18592800"/>
            </a:xfrm>
            <a:custGeom>
              <a:avLst/>
              <a:gdLst/>
              <a:ahLst/>
              <a:cxnLst/>
              <a:rect r="r" b="b" t="t" l="l"/>
              <a:pathLst>
                <a:path h="18592800" w="31597600">
                  <a:moveTo>
                    <a:pt x="0" y="0"/>
                  </a:moveTo>
                  <a:lnTo>
                    <a:pt x="31597600" y="0"/>
                  </a:lnTo>
                  <a:lnTo>
                    <a:pt x="31597600" y="18592800"/>
                  </a:lnTo>
                  <a:lnTo>
                    <a:pt x="0" y="1859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7000"/>
              </a:blip>
              <a:stretch>
                <a:fillRect l="0" t="-9" r="0" b="-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246949" y="7397601"/>
            <a:ext cx="7500747" cy="2889399"/>
            <a:chOff x="0" y="0"/>
            <a:chExt cx="10000996" cy="385253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000996" cy="3852558"/>
            </a:xfrm>
            <a:custGeom>
              <a:avLst/>
              <a:gdLst/>
              <a:ahLst/>
              <a:cxnLst/>
              <a:rect r="r" b="b" t="t" l="l"/>
              <a:pathLst>
                <a:path h="3852558" w="10000996">
                  <a:moveTo>
                    <a:pt x="0" y="0"/>
                  </a:moveTo>
                  <a:lnTo>
                    <a:pt x="0" y="3852558"/>
                  </a:lnTo>
                  <a:lnTo>
                    <a:pt x="8974201" y="3852558"/>
                  </a:lnTo>
                  <a:lnTo>
                    <a:pt x="10000996" y="6740"/>
                  </a:lnTo>
                  <a:lnTo>
                    <a:pt x="10000996" y="0"/>
                  </a:lnTo>
                  <a:close/>
                </a:path>
              </a:pathLst>
            </a:custGeom>
            <a:solidFill>
              <a:srgbClr val="F5812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61" y="-18"/>
            <a:ext cx="6344796" cy="533398"/>
          </a:xfrm>
          <a:custGeom>
            <a:avLst/>
            <a:gdLst/>
            <a:ahLst/>
            <a:cxnLst/>
            <a:rect r="r" b="b" t="t" l="l"/>
            <a:pathLst>
              <a:path h="533398" w="6344796">
                <a:moveTo>
                  <a:pt x="0" y="0"/>
                </a:moveTo>
                <a:lnTo>
                  <a:pt x="6344797" y="0"/>
                </a:lnTo>
                <a:lnTo>
                  <a:pt x="6344797" y="533398"/>
                </a:lnTo>
                <a:lnTo>
                  <a:pt x="0" y="5333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837329" y="-619702"/>
            <a:ext cx="10579733" cy="9462002"/>
          </a:xfrm>
          <a:custGeom>
            <a:avLst/>
            <a:gdLst/>
            <a:ahLst/>
            <a:cxnLst/>
            <a:rect r="r" b="b" t="t" l="l"/>
            <a:pathLst>
              <a:path h="9462002" w="10579733">
                <a:moveTo>
                  <a:pt x="0" y="0"/>
                </a:moveTo>
                <a:lnTo>
                  <a:pt x="10579733" y="0"/>
                </a:lnTo>
                <a:lnTo>
                  <a:pt x="10579733" y="9462002"/>
                </a:lnTo>
                <a:lnTo>
                  <a:pt x="0" y="94620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-808297" y="-511149"/>
            <a:ext cx="2908815" cy="2765450"/>
            <a:chOff x="0" y="0"/>
            <a:chExt cx="766108" cy="72834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6108" cy="728349"/>
            </a:xfrm>
            <a:custGeom>
              <a:avLst/>
              <a:gdLst/>
              <a:ahLst/>
              <a:cxnLst/>
              <a:rect r="r" b="b" t="t" l="l"/>
              <a:pathLst>
                <a:path h="728349" w="766108">
                  <a:moveTo>
                    <a:pt x="383054" y="0"/>
                  </a:moveTo>
                  <a:cubicBezTo>
                    <a:pt x="171499" y="0"/>
                    <a:pt x="0" y="163046"/>
                    <a:pt x="0" y="364175"/>
                  </a:cubicBezTo>
                  <a:cubicBezTo>
                    <a:pt x="0" y="565303"/>
                    <a:pt x="171499" y="728349"/>
                    <a:pt x="383054" y="728349"/>
                  </a:cubicBezTo>
                  <a:cubicBezTo>
                    <a:pt x="594609" y="728349"/>
                    <a:pt x="766108" y="565303"/>
                    <a:pt x="766108" y="364175"/>
                  </a:cubicBezTo>
                  <a:cubicBezTo>
                    <a:pt x="766108" y="163046"/>
                    <a:pt x="594609" y="0"/>
                    <a:pt x="383054" y="0"/>
                  </a:cubicBezTo>
                  <a:close/>
                </a:path>
              </a:pathLst>
            </a:custGeom>
            <a:solidFill>
              <a:srgbClr val="EEEEEE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1823" y="58758"/>
              <a:ext cx="622463" cy="6013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8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5398321" y="4761582"/>
            <a:ext cx="7699049" cy="537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1"/>
              </a:lnSpc>
            </a:pPr>
            <a:r>
              <a:rPr lang="en-US" sz="3598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Sys</a:t>
            </a:r>
            <a:r>
              <a:rPr lang="en-US" sz="3598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tème de Gestion Hôtelière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65590" y="2311451"/>
            <a:ext cx="8866965" cy="8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8"/>
              </a:lnSpc>
            </a:pPr>
            <a:r>
              <a:rPr lang="en-US" sz="49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PROJET DE FIN MODULE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7592292"/>
            <a:ext cx="2143637" cy="412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Réalisé par 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80836" y="3098826"/>
            <a:ext cx="7053792" cy="448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</a:t>
            </a:r>
            <a:r>
              <a:rPr lang="en-US" b="true" sz="26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ogrammation Orientée Objet (Java / C++)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38912" y="5757925"/>
            <a:ext cx="2097749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Encadré par 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84425" y="6382227"/>
            <a:ext cx="2834481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M. Said El Kafhali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65590" y="8037709"/>
            <a:ext cx="4687247" cy="406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39430" indent="-269715" lvl="1">
              <a:lnSpc>
                <a:spcPts val="3248"/>
              </a:lnSpc>
              <a:buFont typeface="Arial"/>
              <a:buChar char="•"/>
            </a:pPr>
            <a:r>
              <a:rPr lang="en-US" b="true" sz="2498">
                <a:solidFill>
                  <a:srgbClr val="041E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HARAKAT ABDELLATIF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65590" y="8559657"/>
            <a:ext cx="4142142" cy="406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39430" indent="-269715" lvl="1">
              <a:lnSpc>
                <a:spcPts val="3248"/>
              </a:lnSpc>
              <a:buFont typeface="Arial"/>
              <a:buChar char="•"/>
            </a:pPr>
            <a:r>
              <a:rPr lang="en-US" b="true" sz="2498" strike="noStrike" u="none">
                <a:solidFill>
                  <a:srgbClr val="041E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ALMELLOUKI NADIR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65590" y="9081603"/>
            <a:ext cx="3409954" cy="432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82609" indent="-291305" lvl="1">
              <a:lnSpc>
                <a:spcPts val="3508"/>
              </a:lnSpc>
              <a:buFont typeface="Arial"/>
              <a:buChar char="•"/>
            </a:pPr>
            <a:r>
              <a:rPr lang="en-US" b="true" sz="2698" strike="noStrike" u="none">
                <a:solidFill>
                  <a:srgbClr val="041E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ADDAR SAAD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65590" y="9542584"/>
            <a:ext cx="3625934" cy="397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31749" indent="-265874" lvl="1">
              <a:lnSpc>
                <a:spcPts val="3202"/>
              </a:lnSpc>
              <a:buFont typeface="Arial"/>
              <a:buChar char="•"/>
            </a:pPr>
            <a:r>
              <a:rPr lang="en-US" b="true" sz="2462" strike="noStrike" u="none">
                <a:solidFill>
                  <a:srgbClr val="041E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EL KHAIRI OMAR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11368" y="174372"/>
            <a:ext cx="1834664" cy="1708657"/>
          </a:xfrm>
          <a:custGeom>
            <a:avLst/>
            <a:gdLst/>
            <a:ahLst/>
            <a:cxnLst/>
            <a:rect r="r" b="b" t="t" l="l"/>
            <a:pathLst>
              <a:path h="1708657" w="1834664">
                <a:moveTo>
                  <a:pt x="0" y="0"/>
                </a:moveTo>
                <a:lnTo>
                  <a:pt x="1834664" y="0"/>
                </a:lnTo>
                <a:lnTo>
                  <a:pt x="1834664" y="1708656"/>
                </a:lnTo>
                <a:lnTo>
                  <a:pt x="0" y="17086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6153089" y="-636009"/>
            <a:ext cx="2503418" cy="2765450"/>
            <a:chOff x="0" y="0"/>
            <a:chExt cx="659336" cy="72834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59336" cy="728349"/>
            </a:xfrm>
            <a:custGeom>
              <a:avLst/>
              <a:gdLst/>
              <a:ahLst/>
              <a:cxnLst/>
              <a:rect r="r" b="b" t="t" l="l"/>
              <a:pathLst>
                <a:path h="728349" w="659336">
                  <a:moveTo>
                    <a:pt x="329668" y="0"/>
                  </a:moveTo>
                  <a:cubicBezTo>
                    <a:pt x="147597" y="0"/>
                    <a:pt x="0" y="163046"/>
                    <a:pt x="0" y="364175"/>
                  </a:cubicBezTo>
                  <a:cubicBezTo>
                    <a:pt x="0" y="565303"/>
                    <a:pt x="147597" y="728349"/>
                    <a:pt x="329668" y="728349"/>
                  </a:cubicBezTo>
                  <a:cubicBezTo>
                    <a:pt x="511739" y="728349"/>
                    <a:pt x="659336" y="565303"/>
                    <a:pt x="659336" y="364175"/>
                  </a:cubicBezTo>
                  <a:cubicBezTo>
                    <a:pt x="659336" y="163046"/>
                    <a:pt x="511739" y="0"/>
                    <a:pt x="329668" y="0"/>
                  </a:cubicBezTo>
                  <a:close/>
                </a:path>
              </a:pathLst>
            </a:custGeom>
            <a:solidFill>
              <a:srgbClr val="EEEEEE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61813" y="58758"/>
              <a:ext cx="535711" cy="6013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80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6568324" y="-149909"/>
            <a:ext cx="1548087" cy="1913903"/>
          </a:xfrm>
          <a:custGeom>
            <a:avLst/>
            <a:gdLst/>
            <a:ahLst/>
            <a:cxnLst/>
            <a:rect r="r" b="b" t="t" l="l"/>
            <a:pathLst>
              <a:path h="1913903" w="1548087">
                <a:moveTo>
                  <a:pt x="0" y="0"/>
                </a:moveTo>
                <a:lnTo>
                  <a:pt x="1548087" y="0"/>
                </a:lnTo>
                <a:lnTo>
                  <a:pt x="1548087" y="1913903"/>
                </a:lnTo>
                <a:lnTo>
                  <a:pt x="0" y="191390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0268769" y="5918263"/>
            <a:ext cx="329221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399" strike="noStrike" u="non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Année universitaire :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129591" y="6411437"/>
            <a:ext cx="1570567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2025 – 2026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8534627" y="9694997"/>
            <a:ext cx="9753373" cy="592003"/>
          </a:xfrm>
          <a:custGeom>
            <a:avLst/>
            <a:gdLst/>
            <a:ahLst/>
            <a:cxnLst/>
            <a:rect r="r" b="b" t="t" l="l"/>
            <a:pathLst>
              <a:path h="592003" w="9753373">
                <a:moveTo>
                  <a:pt x="0" y="0"/>
                </a:moveTo>
                <a:lnTo>
                  <a:pt x="9753373" y="0"/>
                </a:lnTo>
                <a:lnTo>
                  <a:pt x="9753373" y="592003"/>
                </a:lnTo>
                <a:lnTo>
                  <a:pt x="0" y="59200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2700157" y="9618797"/>
            <a:ext cx="4244997" cy="678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23"/>
              </a:lnSpc>
            </a:pPr>
            <a:r>
              <a:rPr lang="en-US" sz="401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PRÉSENTATION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9808292" y="-181891"/>
            <a:ext cx="6344796" cy="533398"/>
          </a:xfrm>
          <a:custGeom>
            <a:avLst/>
            <a:gdLst/>
            <a:ahLst/>
            <a:cxnLst/>
            <a:rect r="r" b="b" t="t" l="l"/>
            <a:pathLst>
              <a:path h="533398" w="6344796">
                <a:moveTo>
                  <a:pt x="0" y="0"/>
                </a:moveTo>
                <a:lnTo>
                  <a:pt x="6344797" y="0"/>
                </a:lnTo>
                <a:lnTo>
                  <a:pt x="6344797" y="533398"/>
                </a:lnTo>
                <a:lnTo>
                  <a:pt x="0" y="5333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" y="874966"/>
            <a:ext cx="6216520" cy="1588132"/>
            <a:chOff x="0" y="0"/>
            <a:chExt cx="8288693" cy="21175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288655" cy="2117471"/>
            </a:xfrm>
            <a:custGeom>
              <a:avLst/>
              <a:gdLst/>
              <a:ahLst/>
              <a:cxnLst/>
              <a:rect r="r" b="b" t="t" l="l"/>
              <a:pathLst>
                <a:path h="2117471" w="8288655">
                  <a:moveTo>
                    <a:pt x="0" y="0"/>
                  </a:moveTo>
                  <a:lnTo>
                    <a:pt x="0" y="2117471"/>
                  </a:lnTo>
                  <a:lnTo>
                    <a:pt x="7218807" y="2117471"/>
                  </a:lnTo>
                  <a:lnTo>
                    <a:pt x="8288655" y="0"/>
                  </a:lnTo>
                  <a:close/>
                </a:path>
              </a:pathLst>
            </a:custGeom>
            <a:solidFill>
              <a:srgbClr val="F5812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26" y="-36"/>
            <a:ext cx="6473441" cy="407799"/>
          </a:xfrm>
          <a:custGeom>
            <a:avLst/>
            <a:gdLst/>
            <a:ahLst/>
            <a:cxnLst/>
            <a:rect r="r" b="b" t="t" l="l"/>
            <a:pathLst>
              <a:path h="407799" w="6473441">
                <a:moveTo>
                  <a:pt x="0" y="0"/>
                </a:moveTo>
                <a:lnTo>
                  <a:pt x="6473441" y="0"/>
                </a:lnTo>
                <a:lnTo>
                  <a:pt x="6473441" y="407799"/>
                </a:lnTo>
                <a:lnTo>
                  <a:pt x="0" y="4077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231411"/>
            <a:ext cx="1507712" cy="745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8"/>
              </a:lnSpc>
            </a:pPr>
            <a:r>
              <a:rPr lang="en-US" sz="39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PLAN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1343723" y="-2041322"/>
            <a:ext cx="8637184" cy="13394150"/>
          </a:xfrm>
          <a:custGeom>
            <a:avLst/>
            <a:gdLst/>
            <a:ahLst/>
            <a:cxnLst/>
            <a:rect r="r" b="b" t="t" l="l"/>
            <a:pathLst>
              <a:path h="13394150" w="8637184">
                <a:moveTo>
                  <a:pt x="0" y="0"/>
                </a:moveTo>
                <a:lnTo>
                  <a:pt x="8637184" y="0"/>
                </a:lnTo>
                <a:lnTo>
                  <a:pt x="8637184" y="13394150"/>
                </a:lnTo>
                <a:lnTo>
                  <a:pt x="0" y="133941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38" t="0" r="-38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904982" y="6057195"/>
            <a:ext cx="310934" cy="413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08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3254190" y="-1295739"/>
            <a:ext cx="9392544" cy="570101"/>
          </a:xfrm>
          <a:custGeom>
            <a:avLst/>
            <a:gdLst/>
            <a:ahLst/>
            <a:cxnLst/>
            <a:rect r="r" b="b" t="t" l="l"/>
            <a:pathLst>
              <a:path h="570101" w="9392544">
                <a:moveTo>
                  <a:pt x="0" y="0"/>
                </a:moveTo>
                <a:lnTo>
                  <a:pt x="9392544" y="0"/>
                </a:lnTo>
                <a:lnTo>
                  <a:pt x="9392544" y="570101"/>
                </a:lnTo>
                <a:lnTo>
                  <a:pt x="0" y="5701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481598" y="6748301"/>
            <a:ext cx="8183851" cy="414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0"/>
              </a:lnSpc>
            </a:pPr>
            <a:r>
              <a:rPr lang="en-US" sz="26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RÉALISATION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535403" y="3201886"/>
            <a:ext cx="8183851" cy="414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0"/>
              </a:lnSpc>
            </a:pPr>
            <a:r>
              <a:rPr lang="en-US" sz="26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INTRODUCTION GÉNÉRALE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817906" y="5577173"/>
            <a:ext cx="8183851" cy="414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0"/>
              </a:lnSpc>
            </a:pPr>
            <a:r>
              <a:rPr lang="en-US" sz="26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CONCEPTION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719554" y="3108170"/>
            <a:ext cx="663690" cy="663690"/>
          </a:xfrm>
          <a:custGeom>
            <a:avLst/>
            <a:gdLst/>
            <a:ahLst/>
            <a:cxnLst/>
            <a:rect r="r" b="b" t="t" l="l"/>
            <a:pathLst>
              <a:path h="663690" w="663690">
                <a:moveTo>
                  <a:pt x="0" y="0"/>
                </a:moveTo>
                <a:lnTo>
                  <a:pt x="663690" y="0"/>
                </a:lnTo>
                <a:lnTo>
                  <a:pt x="663690" y="663690"/>
                </a:lnTo>
                <a:lnTo>
                  <a:pt x="0" y="66369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764425" y="3106636"/>
            <a:ext cx="573948" cy="706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97"/>
              </a:lnSpc>
            </a:pPr>
            <a:r>
              <a:rPr lang="en-US" sz="3283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1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3665752" y="6670766"/>
            <a:ext cx="663690" cy="663640"/>
          </a:xfrm>
          <a:custGeom>
            <a:avLst/>
            <a:gdLst/>
            <a:ahLst/>
            <a:cxnLst/>
            <a:rect r="r" b="b" t="t" l="l"/>
            <a:pathLst>
              <a:path h="663640" w="663690">
                <a:moveTo>
                  <a:pt x="0" y="0"/>
                </a:moveTo>
                <a:lnTo>
                  <a:pt x="663690" y="0"/>
                </a:lnTo>
                <a:lnTo>
                  <a:pt x="663690" y="663640"/>
                </a:lnTo>
                <a:lnTo>
                  <a:pt x="0" y="66364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665752" y="6647607"/>
            <a:ext cx="573948" cy="706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97"/>
              </a:lnSpc>
            </a:pPr>
            <a:r>
              <a:rPr lang="en-US" sz="3283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4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3002061" y="5483251"/>
            <a:ext cx="663690" cy="663640"/>
          </a:xfrm>
          <a:custGeom>
            <a:avLst/>
            <a:gdLst/>
            <a:ahLst/>
            <a:cxnLst/>
            <a:rect r="r" b="b" t="t" l="l"/>
            <a:pathLst>
              <a:path h="663640" w="663690">
                <a:moveTo>
                  <a:pt x="0" y="0"/>
                </a:moveTo>
                <a:lnTo>
                  <a:pt x="663690" y="0"/>
                </a:lnTo>
                <a:lnTo>
                  <a:pt x="663690" y="663640"/>
                </a:lnTo>
                <a:lnTo>
                  <a:pt x="0" y="66364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046934" y="5481923"/>
            <a:ext cx="573948" cy="706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97"/>
              </a:lnSpc>
            </a:pPr>
            <a:r>
              <a:rPr lang="en-US" sz="3283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199095" y="4410732"/>
            <a:ext cx="8183851" cy="414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0"/>
              </a:lnSpc>
            </a:pPr>
            <a:r>
              <a:rPr lang="en-US" sz="26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ANALYSE DES BESOINS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2383244" y="4295736"/>
            <a:ext cx="663690" cy="663640"/>
          </a:xfrm>
          <a:custGeom>
            <a:avLst/>
            <a:gdLst/>
            <a:ahLst/>
            <a:cxnLst/>
            <a:rect r="r" b="b" t="t" l="l"/>
            <a:pathLst>
              <a:path h="663640" w="663690">
                <a:moveTo>
                  <a:pt x="0" y="0"/>
                </a:moveTo>
                <a:lnTo>
                  <a:pt x="663690" y="0"/>
                </a:lnTo>
                <a:lnTo>
                  <a:pt x="663690" y="663640"/>
                </a:lnTo>
                <a:lnTo>
                  <a:pt x="0" y="66364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2428113" y="4278973"/>
            <a:ext cx="573948" cy="706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97"/>
              </a:lnSpc>
            </a:pPr>
            <a:r>
              <a:rPr lang="en-US" sz="3283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00418" y="7935811"/>
            <a:ext cx="8183851" cy="414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0"/>
              </a:lnSpc>
            </a:pPr>
            <a:r>
              <a:rPr lang="en-US" sz="26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CONCLUSION ET PERSPECTIVES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4284569" y="7858281"/>
            <a:ext cx="663690" cy="663640"/>
          </a:xfrm>
          <a:custGeom>
            <a:avLst/>
            <a:gdLst/>
            <a:ahLst/>
            <a:cxnLst/>
            <a:rect r="r" b="b" t="t" l="l"/>
            <a:pathLst>
              <a:path h="663640" w="663690">
                <a:moveTo>
                  <a:pt x="0" y="0"/>
                </a:moveTo>
                <a:lnTo>
                  <a:pt x="663690" y="0"/>
                </a:lnTo>
                <a:lnTo>
                  <a:pt x="663690" y="663640"/>
                </a:lnTo>
                <a:lnTo>
                  <a:pt x="0" y="66364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4329442" y="7840561"/>
            <a:ext cx="573948" cy="706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97"/>
              </a:lnSpc>
            </a:pPr>
            <a:r>
              <a:rPr lang="en-US" sz="3283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5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1829183" y="2792435"/>
            <a:ext cx="1591313" cy="1591313"/>
          </a:xfrm>
          <a:custGeom>
            <a:avLst/>
            <a:gdLst/>
            <a:ahLst/>
            <a:cxnLst/>
            <a:rect r="r" b="b" t="t" l="l"/>
            <a:pathLst>
              <a:path h="1591313" w="1591313">
                <a:moveTo>
                  <a:pt x="0" y="0"/>
                </a:moveTo>
                <a:lnTo>
                  <a:pt x="1591313" y="0"/>
                </a:lnTo>
                <a:lnTo>
                  <a:pt x="1591313" y="1591313"/>
                </a:lnTo>
                <a:lnTo>
                  <a:pt x="0" y="159131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46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11444526" y="2523458"/>
            <a:ext cx="8536381" cy="8536343"/>
            <a:chOff x="0" y="0"/>
            <a:chExt cx="11381842" cy="1138179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381867" cy="11381867"/>
            </a:xfrm>
            <a:custGeom>
              <a:avLst/>
              <a:gdLst/>
              <a:ahLst/>
              <a:cxnLst/>
              <a:rect r="r" b="b" t="t" l="l"/>
              <a:pathLst>
                <a:path h="11381867" w="11381867">
                  <a:moveTo>
                    <a:pt x="11381867" y="5690997"/>
                  </a:moveTo>
                  <a:cubicBezTo>
                    <a:pt x="11381867" y="8833866"/>
                    <a:pt x="8833866" y="11381867"/>
                    <a:pt x="5690997" y="11381867"/>
                  </a:cubicBezTo>
                  <a:cubicBezTo>
                    <a:pt x="2548128" y="11381867"/>
                    <a:pt x="0" y="8833866"/>
                    <a:pt x="0" y="5690997"/>
                  </a:cubicBezTo>
                  <a:cubicBezTo>
                    <a:pt x="0" y="2548001"/>
                    <a:pt x="2547874" y="0"/>
                    <a:pt x="5690870" y="0"/>
                  </a:cubicBezTo>
                  <a:cubicBezTo>
                    <a:pt x="8833866" y="0"/>
                    <a:pt x="11381740" y="2548001"/>
                    <a:pt x="11381740" y="5690997"/>
                  </a:cubicBez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sp>
        <p:nvSpPr>
          <p:cNvPr name="Freeform 27" id="27"/>
          <p:cNvSpPr/>
          <p:nvPr/>
        </p:nvSpPr>
        <p:spPr>
          <a:xfrm flipH="false" flipV="false" rot="0">
            <a:off x="11614192" y="2693107"/>
            <a:ext cx="8197046" cy="8197046"/>
          </a:xfrm>
          <a:custGeom>
            <a:avLst/>
            <a:gdLst/>
            <a:ahLst/>
            <a:cxnLst/>
            <a:rect r="r" b="b" t="t" l="l"/>
            <a:pathLst>
              <a:path h="8197046" w="8197046">
                <a:moveTo>
                  <a:pt x="0" y="0"/>
                </a:moveTo>
                <a:lnTo>
                  <a:pt x="8197045" y="0"/>
                </a:lnTo>
                <a:lnTo>
                  <a:pt x="8197045" y="8197045"/>
                </a:lnTo>
                <a:lnTo>
                  <a:pt x="0" y="819704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8895410" y="9716859"/>
            <a:ext cx="9392544" cy="570101"/>
          </a:xfrm>
          <a:custGeom>
            <a:avLst/>
            <a:gdLst/>
            <a:ahLst/>
            <a:cxnLst/>
            <a:rect r="r" b="b" t="t" l="l"/>
            <a:pathLst>
              <a:path h="570101" w="9392544">
                <a:moveTo>
                  <a:pt x="0" y="0"/>
                </a:moveTo>
                <a:lnTo>
                  <a:pt x="9392544" y="0"/>
                </a:lnTo>
                <a:lnTo>
                  <a:pt x="9392544" y="570101"/>
                </a:lnTo>
                <a:lnTo>
                  <a:pt x="0" y="5701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1959205" y="2922457"/>
            <a:ext cx="1331272" cy="1331272"/>
          </a:xfrm>
          <a:custGeom>
            <a:avLst/>
            <a:gdLst/>
            <a:ahLst/>
            <a:cxnLst/>
            <a:rect r="r" b="b" t="t" l="l"/>
            <a:pathLst>
              <a:path h="1331272" w="1331272">
                <a:moveTo>
                  <a:pt x="0" y="0"/>
                </a:moveTo>
                <a:lnTo>
                  <a:pt x="1331273" y="0"/>
                </a:lnTo>
                <a:lnTo>
                  <a:pt x="1331273" y="1331273"/>
                </a:lnTo>
                <a:lnTo>
                  <a:pt x="0" y="1331273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4917055" y="1563224"/>
            <a:ext cx="1591313" cy="1591313"/>
          </a:xfrm>
          <a:custGeom>
            <a:avLst/>
            <a:gdLst/>
            <a:ahLst/>
            <a:cxnLst/>
            <a:rect r="r" b="b" t="t" l="l"/>
            <a:pathLst>
              <a:path h="1591313" w="1591313">
                <a:moveTo>
                  <a:pt x="0" y="0"/>
                </a:moveTo>
                <a:lnTo>
                  <a:pt x="1591313" y="0"/>
                </a:lnTo>
                <a:lnTo>
                  <a:pt x="1591313" y="1591313"/>
                </a:lnTo>
                <a:lnTo>
                  <a:pt x="0" y="159131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46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5047078" y="1693243"/>
            <a:ext cx="1331272" cy="1331272"/>
          </a:xfrm>
          <a:custGeom>
            <a:avLst/>
            <a:gdLst/>
            <a:ahLst/>
            <a:cxnLst/>
            <a:rect r="r" b="b" t="t" l="l"/>
            <a:pathLst>
              <a:path h="1331272" w="1331272">
                <a:moveTo>
                  <a:pt x="0" y="0"/>
                </a:moveTo>
                <a:lnTo>
                  <a:pt x="1331273" y="0"/>
                </a:lnTo>
                <a:lnTo>
                  <a:pt x="1331273" y="1331273"/>
                </a:lnTo>
                <a:lnTo>
                  <a:pt x="0" y="1331273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0528764" y="5995968"/>
            <a:ext cx="1591313" cy="1591313"/>
          </a:xfrm>
          <a:custGeom>
            <a:avLst/>
            <a:gdLst/>
            <a:ahLst/>
            <a:cxnLst/>
            <a:rect r="r" b="b" t="t" l="l"/>
            <a:pathLst>
              <a:path h="1591313" w="1591313">
                <a:moveTo>
                  <a:pt x="0" y="0"/>
                </a:moveTo>
                <a:lnTo>
                  <a:pt x="1591313" y="0"/>
                </a:lnTo>
                <a:lnTo>
                  <a:pt x="1591313" y="1591314"/>
                </a:lnTo>
                <a:lnTo>
                  <a:pt x="0" y="159131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46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0658785" y="6125993"/>
            <a:ext cx="1331272" cy="1331272"/>
          </a:xfrm>
          <a:custGeom>
            <a:avLst/>
            <a:gdLst/>
            <a:ahLst/>
            <a:cxnLst/>
            <a:rect r="r" b="b" t="t" l="l"/>
            <a:pathLst>
              <a:path h="1331272" w="1331272">
                <a:moveTo>
                  <a:pt x="0" y="0"/>
                </a:moveTo>
                <a:lnTo>
                  <a:pt x="1331273" y="0"/>
                </a:lnTo>
                <a:lnTo>
                  <a:pt x="1331273" y="1331273"/>
                </a:lnTo>
                <a:lnTo>
                  <a:pt x="0" y="1331273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2303128" y="3267485"/>
            <a:ext cx="643433" cy="641223"/>
          </a:xfrm>
          <a:custGeom>
            <a:avLst/>
            <a:gdLst/>
            <a:ahLst/>
            <a:cxnLst/>
            <a:rect r="r" b="b" t="t" l="l"/>
            <a:pathLst>
              <a:path h="641223" w="643433">
                <a:moveTo>
                  <a:pt x="0" y="0"/>
                </a:moveTo>
                <a:lnTo>
                  <a:pt x="643433" y="0"/>
                </a:lnTo>
                <a:lnTo>
                  <a:pt x="643433" y="641223"/>
                </a:lnTo>
                <a:lnTo>
                  <a:pt x="0" y="641223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-172" r="0" b="-172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5345689" y="1953968"/>
            <a:ext cx="809816" cy="809815"/>
          </a:xfrm>
          <a:custGeom>
            <a:avLst/>
            <a:gdLst/>
            <a:ahLst/>
            <a:cxnLst/>
            <a:rect r="r" b="b" t="t" l="l"/>
            <a:pathLst>
              <a:path h="809815" w="809816">
                <a:moveTo>
                  <a:pt x="0" y="0"/>
                </a:moveTo>
                <a:lnTo>
                  <a:pt x="809816" y="0"/>
                </a:lnTo>
                <a:lnTo>
                  <a:pt x="809816" y="809816"/>
                </a:lnTo>
                <a:lnTo>
                  <a:pt x="0" y="809816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-581" r="0" b="-582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1005452" y="6530073"/>
            <a:ext cx="637937" cy="523113"/>
          </a:xfrm>
          <a:custGeom>
            <a:avLst/>
            <a:gdLst/>
            <a:ahLst/>
            <a:cxnLst/>
            <a:rect r="r" b="b" t="t" l="l"/>
            <a:pathLst>
              <a:path h="523113" w="637937">
                <a:moveTo>
                  <a:pt x="0" y="0"/>
                </a:moveTo>
                <a:lnTo>
                  <a:pt x="637937" y="0"/>
                </a:lnTo>
                <a:lnTo>
                  <a:pt x="637937" y="523113"/>
                </a:lnTo>
                <a:lnTo>
                  <a:pt x="0" y="523113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-965" r="0" b="-963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16045244" y="7491613"/>
            <a:ext cx="2428113" cy="153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"/>
              </a:lnSpc>
            </a:pPr>
            <a:r>
              <a:rPr lang="en-US" sz="800">
                <a:solidFill>
                  <a:srgbClr val="141414"/>
                </a:solidFill>
                <a:latin typeface="Montserrat"/>
                <a:ea typeface="Montserrat"/>
                <a:cs typeface="Montserrat"/>
                <a:sym typeface="Montserrat"/>
              </a:rPr>
              <a:t> s'articule autour des point suivante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343723" y="-2041322"/>
            <a:ext cx="8637184" cy="13394150"/>
          </a:xfrm>
          <a:custGeom>
            <a:avLst/>
            <a:gdLst/>
            <a:ahLst/>
            <a:cxnLst/>
            <a:rect r="r" b="b" t="t" l="l"/>
            <a:pathLst>
              <a:path h="13394150" w="8637184">
                <a:moveTo>
                  <a:pt x="0" y="0"/>
                </a:moveTo>
                <a:lnTo>
                  <a:pt x="8637184" y="0"/>
                </a:lnTo>
                <a:lnTo>
                  <a:pt x="8637184" y="13394150"/>
                </a:lnTo>
                <a:lnTo>
                  <a:pt x="0" y="133941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8" t="0" r="-3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0" y="600847"/>
            <a:ext cx="6216396" cy="759343"/>
            <a:chOff x="0" y="0"/>
            <a:chExt cx="8288528" cy="10124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288528" cy="1012444"/>
            </a:xfrm>
            <a:custGeom>
              <a:avLst/>
              <a:gdLst/>
              <a:ahLst/>
              <a:cxnLst/>
              <a:rect r="r" b="b" t="t" l="l"/>
              <a:pathLst>
                <a:path h="1012444" w="8288528">
                  <a:moveTo>
                    <a:pt x="0" y="0"/>
                  </a:moveTo>
                  <a:lnTo>
                    <a:pt x="0" y="1012444"/>
                  </a:lnTo>
                  <a:lnTo>
                    <a:pt x="7218807" y="1012444"/>
                  </a:lnTo>
                  <a:lnTo>
                    <a:pt x="8288528" y="127"/>
                  </a:lnTo>
                  <a:lnTo>
                    <a:pt x="8288528" y="0"/>
                  </a:lnTo>
                  <a:close/>
                </a:path>
              </a:pathLst>
            </a:custGeom>
            <a:solidFill>
              <a:srgbClr val="F5812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-26" y="-36"/>
            <a:ext cx="6473441" cy="407799"/>
          </a:xfrm>
          <a:custGeom>
            <a:avLst/>
            <a:gdLst/>
            <a:ahLst/>
            <a:cxnLst/>
            <a:rect r="r" b="b" t="t" l="l"/>
            <a:pathLst>
              <a:path h="407799" w="6473441">
                <a:moveTo>
                  <a:pt x="0" y="0"/>
                </a:moveTo>
                <a:lnTo>
                  <a:pt x="6473441" y="0"/>
                </a:lnTo>
                <a:lnTo>
                  <a:pt x="6473441" y="407799"/>
                </a:lnTo>
                <a:lnTo>
                  <a:pt x="0" y="4077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40657" y="542925"/>
            <a:ext cx="4116905" cy="736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8"/>
              </a:lnSpc>
            </a:pPr>
            <a:r>
              <a:rPr lang="en-US" sz="39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Introduction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5118551" y="-3502858"/>
            <a:ext cx="6837001" cy="11572976"/>
          </a:xfrm>
          <a:custGeom>
            <a:avLst/>
            <a:gdLst/>
            <a:ahLst/>
            <a:cxnLst/>
            <a:rect r="r" b="b" t="t" l="l"/>
            <a:pathLst>
              <a:path h="11572976" w="6837001">
                <a:moveTo>
                  <a:pt x="0" y="0"/>
                </a:moveTo>
                <a:lnTo>
                  <a:pt x="6837001" y="0"/>
                </a:lnTo>
                <a:lnTo>
                  <a:pt x="6837001" y="11572976"/>
                </a:lnTo>
                <a:lnTo>
                  <a:pt x="0" y="115729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94018" y="1604466"/>
            <a:ext cx="6649066" cy="11161070"/>
          </a:xfrm>
          <a:custGeom>
            <a:avLst/>
            <a:gdLst/>
            <a:ahLst/>
            <a:cxnLst/>
            <a:rect r="r" b="b" t="t" l="l"/>
            <a:pathLst>
              <a:path h="11161070" w="6649066">
                <a:moveTo>
                  <a:pt x="0" y="0"/>
                </a:moveTo>
                <a:lnTo>
                  <a:pt x="6649066" y="0"/>
                </a:lnTo>
                <a:lnTo>
                  <a:pt x="6649066" y="11161070"/>
                </a:lnTo>
                <a:lnTo>
                  <a:pt x="0" y="111610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965478" y="1800130"/>
            <a:ext cx="1926603" cy="1926603"/>
          </a:xfrm>
          <a:custGeom>
            <a:avLst/>
            <a:gdLst/>
            <a:ahLst/>
            <a:cxnLst/>
            <a:rect r="r" b="b" t="t" l="l"/>
            <a:pathLst>
              <a:path h="1926603" w="1926603">
                <a:moveTo>
                  <a:pt x="0" y="0"/>
                </a:moveTo>
                <a:lnTo>
                  <a:pt x="1926602" y="0"/>
                </a:lnTo>
                <a:lnTo>
                  <a:pt x="1926602" y="1926602"/>
                </a:lnTo>
                <a:lnTo>
                  <a:pt x="0" y="192660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46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785948" y="1328960"/>
            <a:ext cx="9510052" cy="2014599"/>
          </a:xfrm>
          <a:custGeom>
            <a:avLst/>
            <a:gdLst/>
            <a:ahLst/>
            <a:cxnLst/>
            <a:rect r="r" b="b" t="t" l="l"/>
            <a:pathLst>
              <a:path h="2014599" w="9510052">
                <a:moveTo>
                  <a:pt x="0" y="0"/>
                </a:moveTo>
                <a:lnTo>
                  <a:pt x="9510052" y="0"/>
                </a:lnTo>
                <a:lnTo>
                  <a:pt x="9510052" y="2014599"/>
                </a:lnTo>
                <a:lnTo>
                  <a:pt x="0" y="201459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208323" y="1604466"/>
            <a:ext cx="1683751" cy="1557029"/>
          </a:xfrm>
          <a:custGeom>
            <a:avLst/>
            <a:gdLst/>
            <a:ahLst/>
            <a:cxnLst/>
            <a:rect r="r" b="b" t="t" l="l"/>
            <a:pathLst>
              <a:path h="1557029" w="1683751">
                <a:moveTo>
                  <a:pt x="0" y="0"/>
                </a:moveTo>
                <a:lnTo>
                  <a:pt x="1683751" y="0"/>
                </a:lnTo>
                <a:lnTo>
                  <a:pt x="1683751" y="1557029"/>
                </a:lnTo>
                <a:lnTo>
                  <a:pt x="0" y="155702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091896" y="1648082"/>
            <a:ext cx="8041196" cy="1164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82"/>
              </a:lnSpc>
            </a:pPr>
            <a:r>
              <a:rPr lang="en-US" sz="5557" b="true">
                <a:solidFill>
                  <a:srgbClr val="2269F5"/>
                </a:solidFill>
                <a:latin typeface="Telegraf Bold"/>
                <a:ea typeface="Telegraf Bold"/>
                <a:cs typeface="Telegraf Bold"/>
                <a:sym typeface="Telegraf Bold"/>
              </a:rPr>
              <a:t>Introduction Générale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322160" y="1342930"/>
            <a:ext cx="1456068" cy="1622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85"/>
              </a:lnSpc>
            </a:pPr>
            <a:r>
              <a:rPr lang="en-US" sz="7703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1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5118551" y="-3502858"/>
            <a:ext cx="6837001" cy="11572976"/>
          </a:xfrm>
          <a:custGeom>
            <a:avLst/>
            <a:gdLst/>
            <a:ahLst/>
            <a:cxnLst/>
            <a:rect r="r" b="b" t="t" l="l"/>
            <a:pathLst>
              <a:path h="11572976" w="6837001">
                <a:moveTo>
                  <a:pt x="0" y="0"/>
                </a:moveTo>
                <a:lnTo>
                  <a:pt x="6837001" y="0"/>
                </a:lnTo>
                <a:lnTo>
                  <a:pt x="6837001" y="11572976"/>
                </a:lnTo>
                <a:lnTo>
                  <a:pt x="0" y="115729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1015139" y="5027943"/>
            <a:ext cx="10518153" cy="10518115"/>
            <a:chOff x="0" y="0"/>
            <a:chExt cx="14024204" cy="1402415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024229" cy="14024229"/>
            </a:xfrm>
            <a:custGeom>
              <a:avLst/>
              <a:gdLst/>
              <a:ahLst/>
              <a:cxnLst/>
              <a:rect r="r" b="b" t="t" l="l"/>
              <a:pathLst>
                <a:path h="14024229" w="14024229">
                  <a:moveTo>
                    <a:pt x="14024229" y="7012178"/>
                  </a:moveTo>
                  <a:cubicBezTo>
                    <a:pt x="14024229" y="10884663"/>
                    <a:pt x="10884789" y="14024229"/>
                    <a:pt x="7012178" y="14024229"/>
                  </a:cubicBezTo>
                  <a:cubicBezTo>
                    <a:pt x="3139567" y="14024229"/>
                    <a:pt x="0" y="10884662"/>
                    <a:pt x="0" y="7012178"/>
                  </a:cubicBezTo>
                  <a:cubicBezTo>
                    <a:pt x="0" y="3139440"/>
                    <a:pt x="3139440" y="0"/>
                    <a:pt x="7012051" y="0"/>
                  </a:cubicBezTo>
                  <a:cubicBezTo>
                    <a:pt x="10884662" y="0"/>
                    <a:pt x="14024102" y="3139440"/>
                    <a:pt x="14024102" y="7012178"/>
                  </a:cubicBezTo>
                  <a:close/>
                </a:path>
              </a:pathLst>
            </a:custGeom>
            <a:blipFill>
              <a:blip r:embed="rId16"/>
              <a:stretch>
                <a:fillRect l="-38837" t="0" r="-38837" b="0"/>
              </a:stretch>
            </a:blip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11224196" y="5236979"/>
            <a:ext cx="10100042" cy="10100042"/>
          </a:xfrm>
          <a:custGeom>
            <a:avLst/>
            <a:gdLst/>
            <a:ahLst/>
            <a:cxnLst/>
            <a:rect r="r" b="b" t="t" l="l"/>
            <a:pathLst>
              <a:path h="10100042" w="10100042">
                <a:moveTo>
                  <a:pt x="0" y="0"/>
                </a:moveTo>
                <a:lnTo>
                  <a:pt x="10100042" y="0"/>
                </a:lnTo>
                <a:lnTo>
                  <a:pt x="10100042" y="10100042"/>
                </a:lnTo>
                <a:lnTo>
                  <a:pt x="0" y="10100042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4029437" y="3968158"/>
            <a:ext cx="4713827" cy="713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Études préliminaires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780436" y="4961268"/>
            <a:ext cx="7925657" cy="2887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4380" indent="-251460" lvl="2">
              <a:lnSpc>
                <a:spcPts val="4620"/>
              </a:lnSpc>
              <a:buFont typeface="Arial"/>
              <a:buChar char="⚬"/>
            </a:pPr>
            <a:r>
              <a:rPr lang="en-US" sz="3300" i="true">
                <a:solidFill>
                  <a:srgbClr val="000000"/>
                </a:solidFill>
                <a:latin typeface="Open Sans 2 Italics"/>
                <a:ea typeface="Open Sans 2 Italics"/>
                <a:cs typeface="Open Sans 2 Italics"/>
                <a:sym typeface="Open Sans 2 Italics"/>
              </a:rPr>
              <a:t>Contexte général</a:t>
            </a:r>
          </a:p>
          <a:p>
            <a:pPr algn="l" marL="754380" indent="-251460" lvl="2">
              <a:lnSpc>
                <a:spcPts val="4620"/>
              </a:lnSpc>
              <a:buFont typeface="Arial"/>
              <a:buChar char="⚬"/>
            </a:pPr>
            <a:r>
              <a:rPr lang="en-US" sz="3300" i="true">
                <a:solidFill>
                  <a:srgbClr val="000000"/>
                </a:solidFill>
                <a:latin typeface="Open Sans 2 Italics"/>
                <a:ea typeface="Open Sans 2 Italics"/>
                <a:cs typeface="Open Sans 2 Italics"/>
                <a:sym typeface="Open Sans 2 Italics"/>
              </a:rPr>
              <a:t>Problématique</a:t>
            </a:r>
          </a:p>
          <a:p>
            <a:pPr algn="l" marL="754380" indent="-251460" lvl="2">
              <a:lnSpc>
                <a:spcPts val="4620"/>
              </a:lnSpc>
              <a:buFont typeface="Arial"/>
              <a:buChar char="⚬"/>
            </a:pPr>
            <a:r>
              <a:rPr lang="en-US" sz="3300" i="true">
                <a:solidFill>
                  <a:srgbClr val="000000"/>
                </a:solidFill>
                <a:latin typeface="Open Sans 2 Italics"/>
                <a:ea typeface="Open Sans 2 Italics"/>
                <a:cs typeface="Open Sans 2 Italics"/>
                <a:sym typeface="Open Sans 2 Italics"/>
              </a:rPr>
              <a:t>Solution</a:t>
            </a:r>
          </a:p>
          <a:p>
            <a:pPr algn="l" marL="754380" indent="-251460" lvl="2">
              <a:lnSpc>
                <a:spcPts val="4620"/>
              </a:lnSpc>
              <a:buFont typeface="Arial"/>
              <a:buChar char="⚬"/>
            </a:pPr>
            <a:r>
              <a:rPr lang="en-US" sz="3300" i="true">
                <a:solidFill>
                  <a:srgbClr val="000000"/>
                </a:solidFill>
                <a:latin typeface="Open Sans 2 Italics"/>
                <a:ea typeface="Open Sans 2 Italics"/>
                <a:cs typeface="Open Sans 2 Italics"/>
                <a:sym typeface="Open Sans 2 Italics"/>
              </a:rPr>
              <a:t>Objectifs du projet</a:t>
            </a:r>
          </a:p>
          <a:p>
            <a:pPr algn="l">
              <a:lnSpc>
                <a:spcPts val="4620"/>
              </a:lnSpc>
            </a:pP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8895410" y="9716859"/>
            <a:ext cx="9392544" cy="570101"/>
          </a:xfrm>
          <a:custGeom>
            <a:avLst/>
            <a:gdLst/>
            <a:ahLst/>
            <a:cxnLst/>
            <a:rect r="r" b="b" t="t" l="l"/>
            <a:pathLst>
              <a:path h="570101" w="9392544">
                <a:moveTo>
                  <a:pt x="0" y="0"/>
                </a:moveTo>
                <a:lnTo>
                  <a:pt x="9392544" y="0"/>
                </a:lnTo>
                <a:lnTo>
                  <a:pt x="9392544" y="570101"/>
                </a:lnTo>
                <a:lnTo>
                  <a:pt x="0" y="570101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343723" y="-2041322"/>
            <a:ext cx="8637184" cy="13394150"/>
          </a:xfrm>
          <a:custGeom>
            <a:avLst/>
            <a:gdLst/>
            <a:ahLst/>
            <a:cxnLst/>
            <a:rect r="r" b="b" t="t" l="l"/>
            <a:pathLst>
              <a:path h="13394150" w="8637184">
                <a:moveTo>
                  <a:pt x="0" y="0"/>
                </a:moveTo>
                <a:lnTo>
                  <a:pt x="8637184" y="0"/>
                </a:lnTo>
                <a:lnTo>
                  <a:pt x="8637184" y="13394150"/>
                </a:lnTo>
                <a:lnTo>
                  <a:pt x="0" y="133941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8" t="0" r="-3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02831" y="9268130"/>
            <a:ext cx="651748" cy="651739"/>
          </a:xfrm>
          <a:custGeom>
            <a:avLst/>
            <a:gdLst/>
            <a:ahLst/>
            <a:cxnLst/>
            <a:rect r="r" b="b" t="t" l="l"/>
            <a:pathLst>
              <a:path h="651739" w="651748">
                <a:moveTo>
                  <a:pt x="0" y="0"/>
                </a:moveTo>
                <a:lnTo>
                  <a:pt x="651748" y="0"/>
                </a:lnTo>
                <a:lnTo>
                  <a:pt x="651748" y="651738"/>
                </a:lnTo>
                <a:lnTo>
                  <a:pt x="0" y="651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65548" y="7414539"/>
            <a:ext cx="85852" cy="85852"/>
          </a:xfrm>
          <a:custGeom>
            <a:avLst/>
            <a:gdLst/>
            <a:ahLst/>
            <a:cxnLst/>
            <a:rect r="r" b="b" t="t" l="l"/>
            <a:pathLst>
              <a:path h="85852" w="85852">
                <a:moveTo>
                  <a:pt x="0" y="0"/>
                </a:moveTo>
                <a:lnTo>
                  <a:pt x="85852" y="0"/>
                </a:lnTo>
                <a:lnTo>
                  <a:pt x="85852" y="85852"/>
                </a:lnTo>
                <a:lnTo>
                  <a:pt x="0" y="858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10" y="600847"/>
            <a:ext cx="6216396" cy="759343"/>
            <a:chOff x="0" y="0"/>
            <a:chExt cx="8288528" cy="101245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288528" cy="1012444"/>
            </a:xfrm>
            <a:custGeom>
              <a:avLst/>
              <a:gdLst/>
              <a:ahLst/>
              <a:cxnLst/>
              <a:rect r="r" b="b" t="t" l="l"/>
              <a:pathLst>
                <a:path h="1012444" w="8288528">
                  <a:moveTo>
                    <a:pt x="0" y="0"/>
                  </a:moveTo>
                  <a:lnTo>
                    <a:pt x="0" y="1012444"/>
                  </a:lnTo>
                  <a:lnTo>
                    <a:pt x="7218807" y="1012444"/>
                  </a:lnTo>
                  <a:lnTo>
                    <a:pt x="8288528" y="127"/>
                  </a:lnTo>
                  <a:lnTo>
                    <a:pt x="8288528" y="0"/>
                  </a:lnTo>
                  <a:close/>
                </a:path>
              </a:pathLst>
            </a:custGeom>
            <a:solidFill>
              <a:srgbClr val="F5812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-26" y="-36"/>
            <a:ext cx="6473441" cy="407799"/>
          </a:xfrm>
          <a:custGeom>
            <a:avLst/>
            <a:gdLst/>
            <a:ahLst/>
            <a:cxnLst/>
            <a:rect r="r" b="b" t="t" l="l"/>
            <a:pathLst>
              <a:path h="407799" w="6473441">
                <a:moveTo>
                  <a:pt x="0" y="0"/>
                </a:moveTo>
                <a:lnTo>
                  <a:pt x="6473441" y="0"/>
                </a:lnTo>
                <a:lnTo>
                  <a:pt x="6473441" y="407799"/>
                </a:lnTo>
                <a:lnTo>
                  <a:pt x="0" y="40779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895410" y="9716859"/>
            <a:ext cx="9392544" cy="570101"/>
          </a:xfrm>
          <a:custGeom>
            <a:avLst/>
            <a:gdLst/>
            <a:ahLst/>
            <a:cxnLst/>
            <a:rect r="r" b="b" t="t" l="l"/>
            <a:pathLst>
              <a:path h="570101" w="9392544">
                <a:moveTo>
                  <a:pt x="0" y="0"/>
                </a:moveTo>
                <a:lnTo>
                  <a:pt x="9392544" y="0"/>
                </a:lnTo>
                <a:lnTo>
                  <a:pt x="9392544" y="570101"/>
                </a:lnTo>
                <a:lnTo>
                  <a:pt x="0" y="5701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947163" y="814947"/>
            <a:ext cx="8340791" cy="4660417"/>
          </a:xfrm>
          <a:custGeom>
            <a:avLst/>
            <a:gdLst/>
            <a:ahLst/>
            <a:cxnLst/>
            <a:rect r="r" b="b" t="t" l="l"/>
            <a:pathLst>
              <a:path h="4660417" w="8340791">
                <a:moveTo>
                  <a:pt x="0" y="0"/>
                </a:moveTo>
                <a:lnTo>
                  <a:pt x="8340791" y="0"/>
                </a:lnTo>
                <a:lnTo>
                  <a:pt x="8340791" y="4660416"/>
                </a:lnTo>
                <a:lnTo>
                  <a:pt x="0" y="466041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40657" y="542925"/>
            <a:ext cx="4116905" cy="736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8"/>
              </a:lnSpc>
            </a:pPr>
            <a:r>
              <a:rPr lang="en-US" sz="39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Introduction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71550" y="9346492"/>
            <a:ext cx="160496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41E1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99912" y="2410155"/>
            <a:ext cx="3409026" cy="54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sz="29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General context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02326" y="7107117"/>
            <a:ext cx="17278055" cy="804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1"/>
              </a:lnSpc>
            </a:pPr>
            <a:r>
              <a:rPr lang="en-US" sz="19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La</a:t>
            </a:r>
            <a:r>
              <a:rPr lang="en-US" sz="19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digitalisation apparaît comme une solution essentielle pour améliorer la performance, la rentabilité et la qualité des services hôteliers.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-131216" y="1157287"/>
            <a:ext cx="2062258" cy="1304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099"/>
              </a:lnSpc>
            </a:pPr>
            <a:r>
              <a:rPr lang="en-US" sz="6498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  <a:r>
              <a:rPr lang="en-US" sz="6498" b="true">
                <a:solidFill>
                  <a:srgbClr val="5271FF"/>
                </a:solidFill>
                <a:latin typeface="Poppins Bold"/>
                <a:ea typeface="Poppins Bold"/>
                <a:cs typeface="Poppins Bold"/>
                <a:sym typeface="Poppins Bold"/>
              </a:rPr>
              <a:t>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213648" y="1632280"/>
            <a:ext cx="5495096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Études préliminaires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38292" y="3278505"/>
            <a:ext cx="596609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Le sec</a:t>
            </a:r>
            <a:r>
              <a:rPr lang="en-US" sz="33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teur hôtelier au Maroc 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43502" y="4501932"/>
            <a:ext cx="6031574" cy="396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Pl</a:t>
            </a:r>
            <a:r>
              <a:rPr lang="en-US" sz="24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us de 3 000 établissements hôteliers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36557" y="5079147"/>
            <a:ext cx="7233840" cy="396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17945" indent="-258972" lvl="1">
              <a:lnSpc>
                <a:spcPts val="3358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Environ 200 000 emplois directs et indirects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88746" y="5570216"/>
            <a:ext cx="5941087" cy="396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17945" indent="-258972" lvl="1">
              <a:lnSpc>
                <a:spcPts val="3358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Contribution de 7 % au PIB national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43502" y="6061285"/>
            <a:ext cx="6270890" cy="396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17945" indent="-258972" lvl="1">
              <a:lnSpc>
                <a:spcPts val="3358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Croissance annuelle moyenne de 15 %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5490077"/>
            <a:chOff x="0" y="0"/>
            <a:chExt cx="24384000" cy="73201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7320153"/>
            </a:xfrm>
            <a:custGeom>
              <a:avLst/>
              <a:gdLst/>
              <a:ahLst/>
              <a:cxnLst/>
              <a:rect r="r" b="b" t="t" l="l"/>
              <a:pathLst>
                <a:path h="7320153" w="24384000">
                  <a:moveTo>
                    <a:pt x="0" y="0"/>
                  </a:moveTo>
                  <a:lnTo>
                    <a:pt x="0" y="7320153"/>
                  </a:lnTo>
                  <a:lnTo>
                    <a:pt x="24384000" y="7320153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1E4178">
                <a:alpha val="19608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1655502"/>
            <a:ext cx="3524250" cy="3524250"/>
            <a:chOff x="0" y="0"/>
            <a:chExt cx="4699000" cy="4699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699000" cy="4699000"/>
            </a:xfrm>
            <a:custGeom>
              <a:avLst/>
              <a:gdLst/>
              <a:ahLst/>
              <a:cxnLst/>
              <a:rect r="r" b="b" t="t" l="l"/>
              <a:pathLst>
                <a:path h="4699000" w="4699000">
                  <a:moveTo>
                    <a:pt x="0" y="0"/>
                  </a:moveTo>
                  <a:lnTo>
                    <a:pt x="4699000" y="0"/>
                  </a:lnTo>
                  <a:lnTo>
                    <a:pt x="4699000" y="4699000"/>
                  </a:lnTo>
                  <a:lnTo>
                    <a:pt x="0" y="469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4999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702831" y="9268130"/>
            <a:ext cx="651748" cy="651739"/>
          </a:xfrm>
          <a:custGeom>
            <a:avLst/>
            <a:gdLst/>
            <a:ahLst/>
            <a:cxnLst/>
            <a:rect r="r" b="b" t="t" l="l"/>
            <a:pathLst>
              <a:path h="651739" w="651748">
                <a:moveTo>
                  <a:pt x="0" y="0"/>
                </a:moveTo>
                <a:lnTo>
                  <a:pt x="651748" y="0"/>
                </a:lnTo>
                <a:lnTo>
                  <a:pt x="651748" y="651738"/>
                </a:lnTo>
                <a:lnTo>
                  <a:pt x="0" y="6517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73331" y="1870129"/>
            <a:ext cx="3039647" cy="3039647"/>
          </a:xfrm>
          <a:custGeom>
            <a:avLst/>
            <a:gdLst/>
            <a:ahLst/>
            <a:cxnLst/>
            <a:rect r="r" b="b" t="t" l="l"/>
            <a:pathLst>
              <a:path h="3039647" w="3039647">
                <a:moveTo>
                  <a:pt x="0" y="0"/>
                </a:moveTo>
                <a:lnTo>
                  <a:pt x="3039646" y="0"/>
                </a:lnTo>
                <a:lnTo>
                  <a:pt x="3039646" y="3039647"/>
                </a:lnTo>
                <a:lnTo>
                  <a:pt x="0" y="303964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-10" y="600847"/>
            <a:ext cx="6216396" cy="759343"/>
            <a:chOff x="0" y="0"/>
            <a:chExt cx="8288528" cy="10124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88528" cy="1012444"/>
            </a:xfrm>
            <a:custGeom>
              <a:avLst/>
              <a:gdLst/>
              <a:ahLst/>
              <a:cxnLst/>
              <a:rect r="r" b="b" t="t" l="l"/>
              <a:pathLst>
                <a:path h="1012444" w="8288528">
                  <a:moveTo>
                    <a:pt x="0" y="0"/>
                  </a:moveTo>
                  <a:lnTo>
                    <a:pt x="0" y="1012444"/>
                  </a:lnTo>
                  <a:lnTo>
                    <a:pt x="7218807" y="1012444"/>
                  </a:lnTo>
                  <a:lnTo>
                    <a:pt x="8288528" y="127"/>
                  </a:lnTo>
                  <a:lnTo>
                    <a:pt x="8288528" y="0"/>
                  </a:lnTo>
                  <a:close/>
                </a:path>
              </a:pathLst>
            </a:custGeom>
            <a:solidFill>
              <a:srgbClr val="F5812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5441842" y="3134103"/>
            <a:ext cx="95377" cy="95377"/>
          </a:xfrm>
          <a:custGeom>
            <a:avLst/>
            <a:gdLst/>
            <a:ahLst/>
            <a:cxnLst/>
            <a:rect r="r" b="b" t="t" l="l"/>
            <a:pathLst>
              <a:path h="95377" w="95377">
                <a:moveTo>
                  <a:pt x="0" y="0"/>
                </a:moveTo>
                <a:lnTo>
                  <a:pt x="95377" y="0"/>
                </a:lnTo>
                <a:lnTo>
                  <a:pt x="95377" y="95377"/>
                </a:lnTo>
                <a:lnTo>
                  <a:pt x="0" y="9537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26" y="-36"/>
            <a:ext cx="6473441" cy="407799"/>
          </a:xfrm>
          <a:custGeom>
            <a:avLst/>
            <a:gdLst/>
            <a:ahLst/>
            <a:cxnLst/>
            <a:rect r="r" b="b" t="t" l="l"/>
            <a:pathLst>
              <a:path h="407799" w="6473441">
                <a:moveTo>
                  <a:pt x="0" y="0"/>
                </a:moveTo>
                <a:lnTo>
                  <a:pt x="6473441" y="0"/>
                </a:lnTo>
                <a:lnTo>
                  <a:pt x="6473441" y="407799"/>
                </a:lnTo>
                <a:lnTo>
                  <a:pt x="0" y="40779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895410" y="9716859"/>
            <a:ext cx="9392544" cy="570101"/>
          </a:xfrm>
          <a:custGeom>
            <a:avLst/>
            <a:gdLst/>
            <a:ahLst/>
            <a:cxnLst/>
            <a:rect r="r" b="b" t="t" l="l"/>
            <a:pathLst>
              <a:path h="570101" w="9392544">
                <a:moveTo>
                  <a:pt x="0" y="0"/>
                </a:moveTo>
                <a:lnTo>
                  <a:pt x="9392544" y="0"/>
                </a:lnTo>
                <a:lnTo>
                  <a:pt x="9392544" y="570101"/>
                </a:lnTo>
                <a:lnTo>
                  <a:pt x="0" y="57010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2813573" y="6359090"/>
            <a:ext cx="5474427" cy="2909040"/>
            <a:chOff x="0" y="0"/>
            <a:chExt cx="7299236" cy="38787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299198" cy="3878707"/>
            </a:xfrm>
            <a:custGeom>
              <a:avLst/>
              <a:gdLst/>
              <a:ahLst/>
              <a:cxnLst/>
              <a:rect r="r" b="b" t="t" l="l"/>
              <a:pathLst>
                <a:path h="3878707" w="7299198">
                  <a:moveTo>
                    <a:pt x="0" y="0"/>
                  </a:moveTo>
                  <a:lnTo>
                    <a:pt x="7299198" y="0"/>
                  </a:lnTo>
                  <a:lnTo>
                    <a:pt x="7299198" y="3878707"/>
                  </a:lnTo>
                  <a:lnTo>
                    <a:pt x="0" y="38787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120883" y="7252202"/>
            <a:ext cx="11969544" cy="412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534" indent="-269767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Gesti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on des réservations, chambres et facturation faite manuellement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12356" y="5756777"/>
            <a:ext cx="13849626" cy="1701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7"/>
              </a:lnSpc>
            </a:pPr>
            <a:r>
              <a:rPr lang="en-US" sz="2115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C’est pourquoi !</a:t>
            </a:r>
          </a:p>
          <a:p>
            <a:pPr algn="l">
              <a:lnSpc>
                <a:spcPts val="3800"/>
              </a:lnSpc>
            </a:pPr>
            <a:r>
              <a:rPr lang="en-US" sz="34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Hô</a:t>
            </a:r>
            <a:r>
              <a:rPr lang="en-US" sz="34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tels non équipés d’une plateforme de gestion centralisée</a:t>
            </a:r>
          </a:p>
          <a:p>
            <a:pPr algn="l">
              <a:lnSpc>
                <a:spcPts val="3449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5048469" y="1935861"/>
            <a:ext cx="9503988" cy="59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8"/>
              </a:lnSpc>
            </a:pPr>
            <a:r>
              <a:rPr lang="en-US" sz="34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</a:t>
            </a:r>
            <a:r>
              <a:rPr lang="en-US" sz="34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estion hôtelière traditionnelle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695740" y="2899229"/>
            <a:ext cx="6922823" cy="4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99" spc="4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Absence de système centralisé de gestion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40657" y="562366"/>
            <a:ext cx="4384577" cy="680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Problématique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33450" y="9346492"/>
            <a:ext cx="187433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41E1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20883" y="7756404"/>
            <a:ext cx="11109556" cy="412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534" indent="-269767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isque élevé d’erreurs (double réservation, facturation incorrecte)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695740" y="3529203"/>
            <a:ext cx="7117832" cy="412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Processus manuels longs et inefficaces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5441842" y="3708593"/>
            <a:ext cx="95377" cy="95377"/>
          </a:xfrm>
          <a:custGeom>
            <a:avLst/>
            <a:gdLst/>
            <a:ahLst/>
            <a:cxnLst/>
            <a:rect r="r" b="b" t="t" l="l"/>
            <a:pathLst>
              <a:path h="95377" w="95377">
                <a:moveTo>
                  <a:pt x="0" y="0"/>
                </a:moveTo>
                <a:lnTo>
                  <a:pt x="95377" y="0"/>
                </a:lnTo>
                <a:lnTo>
                  <a:pt x="95377" y="95377"/>
                </a:lnTo>
                <a:lnTo>
                  <a:pt x="0" y="9537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6450701" y="387127"/>
            <a:ext cx="1147912" cy="1186790"/>
          </a:xfrm>
          <a:custGeom>
            <a:avLst/>
            <a:gdLst/>
            <a:ahLst/>
            <a:cxnLst/>
            <a:rect r="r" b="b" t="t" l="l"/>
            <a:pathLst>
              <a:path h="1186790" w="1147912">
                <a:moveTo>
                  <a:pt x="0" y="0"/>
                </a:moveTo>
                <a:lnTo>
                  <a:pt x="1147912" y="0"/>
                </a:lnTo>
                <a:lnTo>
                  <a:pt x="1147912" y="1186790"/>
                </a:lnTo>
                <a:lnTo>
                  <a:pt x="0" y="118679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5712038" y="4139575"/>
            <a:ext cx="8840419" cy="412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Diffic</a:t>
            </a: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ulté de coordination entre les services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5458135" y="4318965"/>
            <a:ext cx="95377" cy="95377"/>
          </a:xfrm>
          <a:custGeom>
            <a:avLst/>
            <a:gdLst/>
            <a:ahLst/>
            <a:cxnLst/>
            <a:rect r="r" b="b" t="t" l="l"/>
            <a:pathLst>
              <a:path h="95377" w="95377">
                <a:moveTo>
                  <a:pt x="0" y="0"/>
                </a:moveTo>
                <a:lnTo>
                  <a:pt x="95377" y="0"/>
                </a:lnTo>
                <a:lnTo>
                  <a:pt x="95377" y="95377"/>
                </a:lnTo>
                <a:lnTo>
                  <a:pt x="0" y="9537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5721563" y="4719380"/>
            <a:ext cx="8840419" cy="412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Manqu</a:t>
            </a: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 de visibilité en temps réel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5467660" y="4898764"/>
            <a:ext cx="95377" cy="95377"/>
          </a:xfrm>
          <a:custGeom>
            <a:avLst/>
            <a:gdLst/>
            <a:ahLst/>
            <a:cxnLst/>
            <a:rect r="r" b="b" t="t" l="l"/>
            <a:pathLst>
              <a:path h="95377" w="95377">
                <a:moveTo>
                  <a:pt x="0" y="0"/>
                </a:moveTo>
                <a:lnTo>
                  <a:pt x="95377" y="0"/>
                </a:lnTo>
                <a:lnTo>
                  <a:pt x="95377" y="95377"/>
                </a:lnTo>
                <a:lnTo>
                  <a:pt x="0" y="9537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2553757" y="1617402"/>
            <a:ext cx="366979" cy="153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"/>
              </a:lnSpc>
            </a:pPr>
            <a:r>
              <a:rPr lang="en-US" sz="800">
                <a:solidFill>
                  <a:srgbClr val="7D8799"/>
                </a:solidFill>
                <a:latin typeface="Montserrat"/>
                <a:ea typeface="Montserrat"/>
                <a:cs typeface="Montserrat"/>
                <a:sym typeface="Montserrat"/>
              </a:rPr>
              <a:t>malgré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6748589" y="3133677"/>
            <a:ext cx="196320" cy="153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"/>
              </a:lnSpc>
            </a:pPr>
            <a:r>
              <a:rPr lang="en-US" sz="800">
                <a:solidFill>
                  <a:srgbClr val="7D8799"/>
                </a:solidFill>
                <a:latin typeface="Montserrat"/>
                <a:ea typeface="Montserrat"/>
                <a:cs typeface="Montserrat"/>
                <a:sym typeface="Montserrat"/>
              </a:rPr>
              <a:t>il ya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20883" y="8264379"/>
            <a:ext cx="11969544" cy="412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534" indent="-269767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Pert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es financières dues à une mauvaise organisation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20883" y="8772354"/>
            <a:ext cx="11969544" cy="412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534" indent="-269767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Prise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de décision basée sur des données incomplètes ou inexistantes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4579" y="3591227"/>
            <a:ext cx="4304463" cy="5667073"/>
            <a:chOff x="0" y="0"/>
            <a:chExt cx="5739284" cy="75560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39284" cy="7556148"/>
            </a:xfrm>
            <a:custGeom>
              <a:avLst/>
              <a:gdLst/>
              <a:ahLst/>
              <a:cxnLst/>
              <a:rect r="r" b="b" t="t" l="l"/>
              <a:pathLst>
                <a:path h="7556148" w="5739284">
                  <a:moveTo>
                    <a:pt x="0" y="0"/>
                  </a:moveTo>
                  <a:lnTo>
                    <a:pt x="5739284" y="0"/>
                  </a:lnTo>
                  <a:lnTo>
                    <a:pt x="5739284" y="7556148"/>
                  </a:lnTo>
                  <a:lnTo>
                    <a:pt x="0" y="75561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0000"/>
              </a:blip>
              <a:stretch>
                <a:fillRect l="-15931" t="0" r="-15931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1343723" y="-2041322"/>
            <a:ext cx="8637184" cy="13394150"/>
          </a:xfrm>
          <a:custGeom>
            <a:avLst/>
            <a:gdLst/>
            <a:ahLst/>
            <a:cxnLst/>
            <a:rect r="r" b="b" t="t" l="l"/>
            <a:pathLst>
              <a:path h="13394150" w="8637184">
                <a:moveTo>
                  <a:pt x="0" y="0"/>
                </a:moveTo>
                <a:lnTo>
                  <a:pt x="8637184" y="0"/>
                </a:lnTo>
                <a:lnTo>
                  <a:pt x="8637184" y="13394150"/>
                </a:lnTo>
                <a:lnTo>
                  <a:pt x="0" y="133941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38" t="0" r="-38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688016" y="2663152"/>
            <a:ext cx="4913857" cy="6595148"/>
            <a:chOff x="0" y="0"/>
            <a:chExt cx="6551809" cy="87935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551809" cy="8793531"/>
            </a:xfrm>
            <a:custGeom>
              <a:avLst/>
              <a:gdLst/>
              <a:ahLst/>
              <a:cxnLst/>
              <a:rect r="r" b="b" t="t" l="l"/>
              <a:pathLst>
                <a:path h="8793531" w="6551809">
                  <a:moveTo>
                    <a:pt x="0" y="0"/>
                  </a:moveTo>
                  <a:lnTo>
                    <a:pt x="6551809" y="0"/>
                  </a:lnTo>
                  <a:lnTo>
                    <a:pt x="6551809" y="8793531"/>
                  </a:lnTo>
                  <a:lnTo>
                    <a:pt x="0" y="87935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0000"/>
              </a:blip>
              <a:stretch>
                <a:fillRect l="-17212" t="0" r="-17212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111838" y="3404114"/>
            <a:ext cx="4345048" cy="5903323"/>
            <a:chOff x="0" y="0"/>
            <a:chExt cx="5793397" cy="78710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793397" cy="7871148"/>
            </a:xfrm>
            <a:custGeom>
              <a:avLst/>
              <a:gdLst/>
              <a:ahLst/>
              <a:cxnLst/>
              <a:rect r="r" b="b" t="t" l="l"/>
              <a:pathLst>
                <a:path h="7871148" w="5793397">
                  <a:moveTo>
                    <a:pt x="0" y="0"/>
                  </a:moveTo>
                  <a:lnTo>
                    <a:pt x="5793397" y="0"/>
                  </a:lnTo>
                  <a:lnTo>
                    <a:pt x="5793397" y="7871148"/>
                  </a:lnTo>
                  <a:lnTo>
                    <a:pt x="0" y="78711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0000"/>
              </a:blip>
              <a:stretch>
                <a:fillRect l="-18038" t="0" r="-18038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313994" y="2941572"/>
            <a:ext cx="4345048" cy="940837"/>
            <a:chOff x="0" y="0"/>
            <a:chExt cx="5793397" cy="125444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793359" cy="1254370"/>
            </a:xfrm>
            <a:custGeom>
              <a:avLst/>
              <a:gdLst/>
              <a:ahLst/>
              <a:cxnLst/>
              <a:rect r="r" b="b" t="t" l="l"/>
              <a:pathLst>
                <a:path h="1254370" w="5793359">
                  <a:moveTo>
                    <a:pt x="0" y="238890"/>
                  </a:moveTo>
                  <a:cubicBezTo>
                    <a:pt x="0" y="106928"/>
                    <a:pt x="119888" y="0"/>
                    <a:pt x="267843" y="0"/>
                  </a:cubicBezTo>
                  <a:lnTo>
                    <a:pt x="5525516" y="0"/>
                  </a:lnTo>
                  <a:cubicBezTo>
                    <a:pt x="5673471" y="0"/>
                    <a:pt x="5793359" y="106928"/>
                    <a:pt x="5793359" y="238890"/>
                  </a:cubicBezTo>
                  <a:lnTo>
                    <a:pt x="5793359" y="1015480"/>
                  </a:lnTo>
                  <a:cubicBezTo>
                    <a:pt x="5793359" y="1147442"/>
                    <a:pt x="5673471" y="1254370"/>
                    <a:pt x="5525516" y="1254370"/>
                  </a:cubicBezTo>
                  <a:lnTo>
                    <a:pt x="267843" y="1254370"/>
                  </a:lnTo>
                  <a:cubicBezTo>
                    <a:pt x="119888" y="1254487"/>
                    <a:pt x="0" y="1147555"/>
                    <a:pt x="0" y="1015480"/>
                  </a:cubicBezTo>
                  <a:lnTo>
                    <a:pt x="0" y="238890"/>
                  </a:lnTo>
                  <a:close/>
                </a:path>
              </a:pathLst>
            </a:custGeom>
            <a:solidFill>
              <a:srgbClr val="F5812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6688016" y="1956940"/>
            <a:ext cx="4913857" cy="1054865"/>
            <a:chOff x="0" y="0"/>
            <a:chExt cx="6551809" cy="140648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551765" cy="1406398"/>
            </a:xfrm>
            <a:custGeom>
              <a:avLst/>
              <a:gdLst/>
              <a:ahLst/>
              <a:cxnLst/>
              <a:rect r="r" b="b" t="t" l="l"/>
              <a:pathLst>
                <a:path h="1406398" w="6551765">
                  <a:moveTo>
                    <a:pt x="0" y="267843"/>
                  </a:moveTo>
                  <a:cubicBezTo>
                    <a:pt x="0" y="119888"/>
                    <a:pt x="135582" y="0"/>
                    <a:pt x="302906" y="0"/>
                  </a:cubicBezTo>
                  <a:lnTo>
                    <a:pt x="6248859" y="0"/>
                  </a:lnTo>
                  <a:cubicBezTo>
                    <a:pt x="6416183" y="0"/>
                    <a:pt x="6551765" y="119888"/>
                    <a:pt x="6551765" y="267843"/>
                  </a:cubicBezTo>
                  <a:lnTo>
                    <a:pt x="6551765" y="1138555"/>
                  </a:lnTo>
                  <a:cubicBezTo>
                    <a:pt x="6551765" y="1286510"/>
                    <a:pt x="6416183" y="1406398"/>
                    <a:pt x="6248859" y="1406398"/>
                  </a:cubicBezTo>
                  <a:lnTo>
                    <a:pt x="302906" y="1406398"/>
                  </a:lnTo>
                  <a:cubicBezTo>
                    <a:pt x="135582" y="1406525"/>
                    <a:pt x="0" y="1286637"/>
                    <a:pt x="0" y="1138555"/>
                  </a:cubicBezTo>
                  <a:lnTo>
                    <a:pt x="0" y="267843"/>
                  </a:lnTo>
                  <a:close/>
                </a:path>
              </a:pathLst>
            </a:custGeom>
            <a:solidFill>
              <a:srgbClr val="F5812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2111838" y="2827544"/>
            <a:ext cx="4345048" cy="1054865"/>
            <a:chOff x="0" y="0"/>
            <a:chExt cx="5793397" cy="140648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793359" cy="1406398"/>
            </a:xfrm>
            <a:custGeom>
              <a:avLst/>
              <a:gdLst/>
              <a:ahLst/>
              <a:cxnLst/>
              <a:rect r="r" b="b" t="t" l="l"/>
              <a:pathLst>
                <a:path h="1406398" w="5793359">
                  <a:moveTo>
                    <a:pt x="0" y="267843"/>
                  </a:moveTo>
                  <a:cubicBezTo>
                    <a:pt x="0" y="119888"/>
                    <a:pt x="119888" y="0"/>
                    <a:pt x="267843" y="0"/>
                  </a:cubicBezTo>
                  <a:lnTo>
                    <a:pt x="5525516" y="0"/>
                  </a:lnTo>
                  <a:cubicBezTo>
                    <a:pt x="5673471" y="0"/>
                    <a:pt x="5793359" y="119888"/>
                    <a:pt x="5793359" y="267843"/>
                  </a:cubicBezTo>
                  <a:lnTo>
                    <a:pt x="5793359" y="1138555"/>
                  </a:lnTo>
                  <a:cubicBezTo>
                    <a:pt x="5793359" y="1286510"/>
                    <a:pt x="5673471" y="1406398"/>
                    <a:pt x="5525516" y="1406398"/>
                  </a:cubicBezTo>
                  <a:lnTo>
                    <a:pt x="267843" y="1406398"/>
                  </a:lnTo>
                  <a:cubicBezTo>
                    <a:pt x="119888" y="1406525"/>
                    <a:pt x="0" y="1286637"/>
                    <a:pt x="0" y="1138555"/>
                  </a:cubicBezTo>
                  <a:lnTo>
                    <a:pt x="0" y="267843"/>
                  </a:lnTo>
                  <a:close/>
                </a:path>
              </a:pathLst>
            </a:custGeom>
            <a:solidFill>
              <a:srgbClr val="F5812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7177183" y="2113045"/>
            <a:ext cx="519933" cy="714499"/>
          </a:xfrm>
          <a:custGeom>
            <a:avLst/>
            <a:gdLst/>
            <a:ahLst/>
            <a:cxnLst/>
            <a:rect r="r" b="b" t="t" l="l"/>
            <a:pathLst>
              <a:path h="714499" w="519933">
                <a:moveTo>
                  <a:pt x="0" y="0"/>
                </a:moveTo>
                <a:lnTo>
                  <a:pt x="519933" y="0"/>
                </a:lnTo>
                <a:lnTo>
                  <a:pt x="519933" y="714499"/>
                </a:lnTo>
                <a:lnTo>
                  <a:pt x="0" y="71449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345513" y="313226"/>
            <a:ext cx="1062359" cy="1104894"/>
          </a:xfrm>
          <a:custGeom>
            <a:avLst/>
            <a:gdLst/>
            <a:ahLst/>
            <a:cxnLst/>
            <a:rect r="r" b="b" t="t" l="l"/>
            <a:pathLst>
              <a:path h="1104894" w="1062359">
                <a:moveTo>
                  <a:pt x="0" y="0"/>
                </a:moveTo>
                <a:lnTo>
                  <a:pt x="1062359" y="0"/>
                </a:lnTo>
                <a:lnTo>
                  <a:pt x="1062359" y="1104894"/>
                </a:lnTo>
                <a:lnTo>
                  <a:pt x="0" y="110489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702831" y="9268130"/>
            <a:ext cx="651748" cy="651739"/>
          </a:xfrm>
          <a:custGeom>
            <a:avLst/>
            <a:gdLst/>
            <a:ahLst/>
            <a:cxnLst/>
            <a:rect r="r" b="b" t="t" l="l"/>
            <a:pathLst>
              <a:path h="651739" w="651748">
                <a:moveTo>
                  <a:pt x="0" y="0"/>
                </a:moveTo>
                <a:lnTo>
                  <a:pt x="651748" y="0"/>
                </a:lnTo>
                <a:lnTo>
                  <a:pt x="651748" y="651738"/>
                </a:lnTo>
                <a:lnTo>
                  <a:pt x="0" y="65173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-10" y="600847"/>
            <a:ext cx="6216396" cy="759343"/>
            <a:chOff x="0" y="0"/>
            <a:chExt cx="8288528" cy="101245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288528" cy="1012444"/>
            </a:xfrm>
            <a:custGeom>
              <a:avLst/>
              <a:gdLst/>
              <a:ahLst/>
              <a:cxnLst/>
              <a:rect r="r" b="b" t="t" l="l"/>
              <a:pathLst>
                <a:path h="1012444" w="8288528">
                  <a:moveTo>
                    <a:pt x="0" y="0"/>
                  </a:moveTo>
                  <a:lnTo>
                    <a:pt x="0" y="1012444"/>
                  </a:lnTo>
                  <a:lnTo>
                    <a:pt x="7218807" y="1012444"/>
                  </a:lnTo>
                  <a:lnTo>
                    <a:pt x="8288528" y="127"/>
                  </a:lnTo>
                  <a:lnTo>
                    <a:pt x="8288528" y="0"/>
                  </a:lnTo>
                  <a:close/>
                </a:path>
              </a:pathLst>
            </a:custGeom>
            <a:solidFill>
              <a:srgbClr val="F5812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-26" y="-36"/>
            <a:ext cx="6473441" cy="407799"/>
          </a:xfrm>
          <a:custGeom>
            <a:avLst/>
            <a:gdLst/>
            <a:ahLst/>
            <a:cxnLst/>
            <a:rect r="r" b="b" t="t" l="l"/>
            <a:pathLst>
              <a:path h="407799" w="6473441">
                <a:moveTo>
                  <a:pt x="0" y="0"/>
                </a:moveTo>
                <a:lnTo>
                  <a:pt x="6473441" y="0"/>
                </a:lnTo>
                <a:lnTo>
                  <a:pt x="6473441" y="407799"/>
                </a:lnTo>
                <a:lnTo>
                  <a:pt x="0" y="40779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8895410" y="9716859"/>
            <a:ext cx="9392544" cy="570101"/>
          </a:xfrm>
          <a:custGeom>
            <a:avLst/>
            <a:gdLst/>
            <a:ahLst/>
            <a:cxnLst/>
            <a:rect r="r" b="b" t="t" l="l"/>
            <a:pathLst>
              <a:path h="570101" w="9392544">
                <a:moveTo>
                  <a:pt x="0" y="0"/>
                </a:moveTo>
                <a:lnTo>
                  <a:pt x="9392544" y="0"/>
                </a:lnTo>
                <a:lnTo>
                  <a:pt x="9392544" y="570101"/>
                </a:lnTo>
                <a:lnTo>
                  <a:pt x="0" y="57010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6880774" y="156248"/>
            <a:ext cx="4464739" cy="1504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58"/>
              </a:lnSpc>
            </a:pPr>
            <a:r>
              <a:rPr lang="en-US" sz="7898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Solution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52500" y="9346492"/>
            <a:ext cx="169936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41E1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8700" y="629679"/>
            <a:ext cx="4356811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Solution proposée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802504" y="2025807"/>
            <a:ext cx="3203824" cy="850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8"/>
              </a:lnSpc>
              <a:spcBef>
                <a:spcPct val="0"/>
              </a:spcBef>
            </a:pPr>
            <a:r>
              <a:rPr lang="en-US" b="true" sz="2499">
                <a:solidFill>
                  <a:srgbClr val="EEEEE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Environnement centralisé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846687" y="3430905"/>
            <a:ext cx="4532913" cy="356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53176" indent="-226588" lvl="1">
              <a:lnSpc>
                <a:spcPts val="2938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Application desktop complète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880774" y="4011281"/>
            <a:ext cx="4532913" cy="727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53176" indent="-226588" lvl="1">
              <a:lnSpc>
                <a:spcPts val="2938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Centra</a:t>
            </a:r>
            <a:r>
              <a:rPr lang="en-US" sz="20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lisation des données hôtelières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810810" y="5029808"/>
            <a:ext cx="4532913" cy="727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53176" indent="-226588" lvl="1">
              <a:lnSpc>
                <a:spcPts val="2938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Ges</a:t>
            </a:r>
            <a:r>
              <a:rPr lang="en-US" sz="20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tion des chambres et réservations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846687" y="6121615"/>
            <a:ext cx="4532913" cy="727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53176" indent="-226588" lvl="1">
              <a:lnSpc>
                <a:spcPts val="2938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</a:t>
            </a:r>
            <a:r>
              <a:rPr lang="en-US" sz="20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ise à jour des informations en temps réel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880774" y="7213423"/>
            <a:ext cx="4532913" cy="727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53176" indent="-226588" lvl="1">
              <a:lnSpc>
                <a:spcPts val="2938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Amélioration de l’organisation interne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111838" y="5174903"/>
            <a:ext cx="4108192" cy="682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31587" indent="-215793" lvl="1">
              <a:lnSpc>
                <a:spcPts val="2798"/>
              </a:lnSpc>
              <a:buFont typeface="Arial"/>
              <a:buChar char="•"/>
            </a:pPr>
            <a:r>
              <a:rPr lang="en-US" b="true" sz="19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true" sz="1999">
                <a:solidFill>
                  <a:srgbClr val="2269F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Réservations :</a:t>
            </a:r>
            <a:r>
              <a:rPr lang="en-US" b="true" sz="19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dis</a:t>
            </a:r>
            <a:r>
              <a:rPr lang="en-US" sz="1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ponibilité, modification, historique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017905" y="6121615"/>
            <a:ext cx="4532913" cy="727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53176" indent="-226588" lvl="1">
              <a:lnSpc>
                <a:spcPts val="2938"/>
              </a:lnSpc>
              <a:buFont typeface="Arial"/>
              <a:buChar char="•"/>
            </a:pPr>
            <a:r>
              <a:rPr lang="en-US" b="true" sz="20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true" sz="2099">
                <a:solidFill>
                  <a:srgbClr val="2269F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</a:t>
            </a:r>
            <a:r>
              <a:rPr lang="en-US" b="true" sz="2099">
                <a:solidFill>
                  <a:srgbClr val="2269F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lients </a:t>
            </a:r>
            <a:r>
              <a:rPr lang="en-US" b="true" sz="20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: </a:t>
            </a:r>
            <a:r>
              <a:rPr lang="en-US" sz="20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fichier centralisé, préférences, séjours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236756" y="4290636"/>
            <a:ext cx="3858355" cy="727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53176" indent="-226588" lvl="1">
              <a:lnSpc>
                <a:spcPts val="2938"/>
              </a:lnSpc>
              <a:buFont typeface="Arial"/>
              <a:buChar char="•"/>
            </a:pPr>
            <a:r>
              <a:rPr lang="en-US" b="true" sz="2099">
                <a:solidFill>
                  <a:srgbClr val="2269F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Chambres :</a:t>
            </a:r>
            <a:r>
              <a:rPr lang="en-US" sz="2099">
                <a:solidFill>
                  <a:srgbClr val="041E1A"/>
                </a:solidFill>
                <a:latin typeface="Montserrat"/>
                <a:ea typeface="Montserrat"/>
                <a:cs typeface="Montserrat"/>
                <a:sym typeface="Montserrat"/>
              </a:rPr>
              <a:t> st</a:t>
            </a:r>
            <a:r>
              <a:rPr lang="en-US" sz="2099">
                <a:solidFill>
                  <a:srgbClr val="041E1A"/>
                </a:solidFill>
                <a:latin typeface="Montserrat"/>
                <a:ea typeface="Montserrat"/>
                <a:cs typeface="Montserrat"/>
                <a:sym typeface="Montserrat"/>
              </a:rPr>
              <a:t>atuts en temps réel, maintenance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017905" y="7073467"/>
            <a:ext cx="4532913" cy="727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53176" indent="-226588" lvl="1">
              <a:lnSpc>
                <a:spcPts val="2938"/>
              </a:lnSpc>
              <a:buFont typeface="Arial"/>
              <a:buChar char="•"/>
            </a:pPr>
            <a:r>
              <a:rPr lang="en-US" b="true" sz="20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true" sz="2099">
                <a:solidFill>
                  <a:srgbClr val="2269F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Fa</a:t>
            </a:r>
            <a:r>
              <a:rPr lang="en-US" b="true" sz="2099">
                <a:solidFill>
                  <a:srgbClr val="2269F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cturation :</a:t>
            </a:r>
            <a:r>
              <a:rPr lang="en-US" sz="20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génération automatique, export PDF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111838" y="8025318"/>
            <a:ext cx="4532913" cy="727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53176" indent="-226588" lvl="1">
              <a:lnSpc>
                <a:spcPts val="2938"/>
              </a:lnSpc>
              <a:buFont typeface="Arial"/>
              <a:buChar char="•"/>
            </a:pPr>
            <a:r>
              <a:rPr lang="en-US" b="true" sz="2099">
                <a:solidFill>
                  <a:srgbClr val="2269F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Entret</a:t>
            </a:r>
            <a:r>
              <a:rPr lang="en-US" b="true" sz="2099">
                <a:solidFill>
                  <a:srgbClr val="2269F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ien :</a:t>
            </a:r>
            <a:r>
              <a:rPr lang="en-US" sz="20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planification et suivi des tâches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993409" y="3056280"/>
            <a:ext cx="4345048" cy="412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8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EEEEE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Modules fonctionnels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13994" y="3186579"/>
            <a:ext cx="4345048" cy="412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8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EEEEE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Aide à la décision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605269" y="4356078"/>
            <a:ext cx="3508585" cy="356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53176" indent="-226588" lvl="1">
              <a:lnSpc>
                <a:spcPts val="2938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Das</a:t>
            </a:r>
            <a:r>
              <a:rPr lang="en-US" sz="20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hboard interactif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83578" y="5432023"/>
            <a:ext cx="4001933" cy="356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53176" indent="-226588" lvl="1">
              <a:lnSpc>
                <a:spcPts val="2938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Statis</a:t>
            </a:r>
            <a:r>
              <a:rPr lang="en-US" sz="20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tiques en temps réel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457419" y="6728671"/>
            <a:ext cx="3558552" cy="727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53176" indent="-226588" lvl="1">
              <a:lnSpc>
                <a:spcPts val="2938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Suiv</a:t>
            </a:r>
            <a:r>
              <a:rPr lang="en-US" sz="20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 des revenus et performances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73939" y="600847"/>
            <a:ext cx="6814052" cy="759343"/>
            <a:chOff x="0" y="0"/>
            <a:chExt cx="9085402" cy="10124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085453" cy="1012444"/>
            </a:xfrm>
            <a:custGeom>
              <a:avLst/>
              <a:gdLst/>
              <a:ahLst/>
              <a:cxnLst/>
              <a:rect r="r" b="b" t="t" l="l"/>
              <a:pathLst>
                <a:path h="1012444" w="9085453">
                  <a:moveTo>
                    <a:pt x="516509" y="0"/>
                  </a:moveTo>
                  <a:lnTo>
                    <a:pt x="0" y="1012444"/>
                  </a:lnTo>
                  <a:lnTo>
                    <a:pt x="9085453" y="1012444"/>
                  </a:lnTo>
                  <a:lnTo>
                    <a:pt x="9085453" y="0"/>
                  </a:lnTo>
                  <a:close/>
                </a:path>
              </a:pathLst>
            </a:custGeom>
            <a:solidFill>
              <a:srgbClr val="F5812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2094721" y="40"/>
            <a:ext cx="6193280" cy="421006"/>
          </a:xfrm>
          <a:custGeom>
            <a:avLst/>
            <a:gdLst/>
            <a:ahLst/>
            <a:cxnLst/>
            <a:rect r="r" b="b" t="t" l="l"/>
            <a:pathLst>
              <a:path h="421006" w="6193280">
                <a:moveTo>
                  <a:pt x="0" y="0"/>
                </a:moveTo>
                <a:lnTo>
                  <a:pt x="6193280" y="0"/>
                </a:lnTo>
                <a:lnTo>
                  <a:pt x="6193280" y="421006"/>
                </a:lnTo>
                <a:lnTo>
                  <a:pt x="0" y="4210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053274" y="9131589"/>
            <a:ext cx="651739" cy="651739"/>
          </a:xfrm>
          <a:custGeom>
            <a:avLst/>
            <a:gdLst/>
            <a:ahLst/>
            <a:cxnLst/>
            <a:rect r="r" b="b" t="t" l="l"/>
            <a:pathLst>
              <a:path h="651739" w="651739">
                <a:moveTo>
                  <a:pt x="0" y="0"/>
                </a:moveTo>
                <a:lnTo>
                  <a:pt x="651739" y="0"/>
                </a:lnTo>
                <a:lnTo>
                  <a:pt x="651739" y="651739"/>
                </a:lnTo>
                <a:lnTo>
                  <a:pt x="0" y="6517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4933121" y="-1901047"/>
            <a:ext cx="12692605" cy="13967279"/>
          </a:xfrm>
          <a:custGeom>
            <a:avLst/>
            <a:gdLst/>
            <a:ahLst/>
            <a:cxnLst/>
            <a:rect r="r" b="b" t="t" l="l"/>
            <a:pathLst>
              <a:path h="13967279" w="12692605">
                <a:moveTo>
                  <a:pt x="0" y="0"/>
                </a:moveTo>
                <a:lnTo>
                  <a:pt x="12692605" y="0"/>
                </a:lnTo>
                <a:lnTo>
                  <a:pt x="12692605" y="13967279"/>
                </a:lnTo>
                <a:lnTo>
                  <a:pt x="0" y="139672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33" t="0" r="-33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89604" y="3142905"/>
            <a:ext cx="2617902" cy="3042624"/>
          </a:xfrm>
          <a:custGeom>
            <a:avLst/>
            <a:gdLst/>
            <a:ahLst/>
            <a:cxnLst/>
            <a:rect r="r" b="b" t="t" l="l"/>
            <a:pathLst>
              <a:path h="3042624" w="2617902">
                <a:moveTo>
                  <a:pt x="0" y="0"/>
                </a:moveTo>
                <a:lnTo>
                  <a:pt x="2617902" y="0"/>
                </a:lnTo>
                <a:lnTo>
                  <a:pt x="2617902" y="3042624"/>
                </a:lnTo>
                <a:lnTo>
                  <a:pt x="0" y="304262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8111" t="0" r="-8111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046333" y="3369865"/>
            <a:ext cx="2790264" cy="2790264"/>
          </a:xfrm>
          <a:custGeom>
            <a:avLst/>
            <a:gdLst/>
            <a:ahLst/>
            <a:cxnLst/>
            <a:rect r="r" b="b" t="t" l="l"/>
            <a:pathLst>
              <a:path h="2790264" w="2790264">
                <a:moveTo>
                  <a:pt x="0" y="0"/>
                </a:moveTo>
                <a:lnTo>
                  <a:pt x="2790264" y="0"/>
                </a:lnTo>
                <a:lnTo>
                  <a:pt x="2790264" y="2790264"/>
                </a:lnTo>
                <a:lnTo>
                  <a:pt x="0" y="279026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125499" y="2814111"/>
            <a:ext cx="3371417" cy="3371417"/>
          </a:xfrm>
          <a:custGeom>
            <a:avLst/>
            <a:gdLst/>
            <a:ahLst/>
            <a:cxnLst/>
            <a:rect r="r" b="b" t="t" l="l"/>
            <a:pathLst>
              <a:path h="3371417" w="3371417">
                <a:moveTo>
                  <a:pt x="0" y="0"/>
                </a:moveTo>
                <a:lnTo>
                  <a:pt x="3371417" y="0"/>
                </a:lnTo>
                <a:lnTo>
                  <a:pt x="3371417" y="3371418"/>
                </a:lnTo>
                <a:lnTo>
                  <a:pt x="0" y="337141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954031" y="3142905"/>
            <a:ext cx="2492664" cy="2643659"/>
          </a:xfrm>
          <a:custGeom>
            <a:avLst/>
            <a:gdLst/>
            <a:ahLst/>
            <a:cxnLst/>
            <a:rect r="r" b="b" t="t" l="l"/>
            <a:pathLst>
              <a:path h="2643659" w="2492664">
                <a:moveTo>
                  <a:pt x="0" y="0"/>
                </a:moveTo>
                <a:lnTo>
                  <a:pt x="2492664" y="0"/>
                </a:lnTo>
                <a:lnTo>
                  <a:pt x="2492664" y="2643659"/>
                </a:lnTo>
                <a:lnTo>
                  <a:pt x="0" y="264365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16457" t="-12437" r="-9546" b="-6369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935552" y="3342387"/>
            <a:ext cx="3104139" cy="2643659"/>
          </a:xfrm>
          <a:custGeom>
            <a:avLst/>
            <a:gdLst/>
            <a:ahLst/>
            <a:cxnLst/>
            <a:rect r="r" b="b" t="t" l="l"/>
            <a:pathLst>
              <a:path h="2643659" w="3104139">
                <a:moveTo>
                  <a:pt x="0" y="0"/>
                </a:moveTo>
                <a:lnTo>
                  <a:pt x="3104139" y="0"/>
                </a:lnTo>
                <a:lnTo>
                  <a:pt x="3104139" y="2643659"/>
                </a:lnTo>
                <a:lnTo>
                  <a:pt x="0" y="264365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12404" t="-31163" r="-17995" b="-21949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245723" y="6512554"/>
            <a:ext cx="3654838" cy="2276077"/>
          </a:xfrm>
          <a:custGeom>
            <a:avLst/>
            <a:gdLst/>
            <a:ahLst/>
            <a:cxnLst/>
            <a:rect r="r" b="b" t="t" l="l"/>
            <a:pathLst>
              <a:path h="2276077" w="3654838">
                <a:moveTo>
                  <a:pt x="0" y="0"/>
                </a:moveTo>
                <a:lnTo>
                  <a:pt x="3654838" y="0"/>
                </a:lnTo>
                <a:lnTo>
                  <a:pt x="3654838" y="2276076"/>
                </a:lnTo>
                <a:lnTo>
                  <a:pt x="0" y="227607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-27118" r="0" b="-33457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417166" y="6609634"/>
            <a:ext cx="2926271" cy="2472054"/>
          </a:xfrm>
          <a:custGeom>
            <a:avLst/>
            <a:gdLst/>
            <a:ahLst/>
            <a:cxnLst/>
            <a:rect r="r" b="b" t="t" l="l"/>
            <a:pathLst>
              <a:path h="2472054" w="2926271">
                <a:moveTo>
                  <a:pt x="0" y="0"/>
                </a:moveTo>
                <a:lnTo>
                  <a:pt x="2926271" y="0"/>
                </a:lnTo>
                <a:lnTo>
                  <a:pt x="2926271" y="2472053"/>
                </a:lnTo>
                <a:lnTo>
                  <a:pt x="0" y="247205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16958" t="-26891" r="-13975" b="-2810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7302944" y="9209961"/>
            <a:ext cx="173288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41E1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7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808725" y="680390"/>
            <a:ext cx="4253665" cy="535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8"/>
              </a:lnSpc>
            </a:pPr>
            <a:r>
              <a:rPr lang="en-US" sz="28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Objectifs du projet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8751" y="5820404"/>
            <a:ext cx="2768756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Au</a:t>
            </a: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tomatiser la gestion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960008" y="5820404"/>
            <a:ext cx="2736866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entraliser les données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975423" y="5820404"/>
            <a:ext cx="3654838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Op</a:t>
            </a: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timiser l’organisation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316061" y="5820404"/>
            <a:ext cx="3951199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méliorer l’expérience client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935552" y="5820404"/>
            <a:ext cx="3420227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A</a:t>
            </a: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ider à la décision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516024" y="9043587"/>
            <a:ext cx="3114237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Appliquer les concepts logiciels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951494" y="9182100"/>
            <a:ext cx="3857615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Dév</a:t>
            </a: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elopper une application professionnelle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343723" y="-2041322"/>
            <a:ext cx="8637184" cy="13394150"/>
          </a:xfrm>
          <a:custGeom>
            <a:avLst/>
            <a:gdLst/>
            <a:ahLst/>
            <a:cxnLst/>
            <a:rect r="r" b="b" t="t" l="l"/>
            <a:pathLst>
              <a:path h="13394150" w="8637184">
                <a:moveTo>
                  <a:pt x="0" y="0"/>
                </a:moveTo>
                <a:lnTo>
                  <a:pt x="8637184" y="0"/>
                </a:lnTo>
                <a:lnTo>
                  <a:pt x="8637184" y="13394150"/>
                </a:lnTo>
                <a:lnTo>
                  <a:pt x="0" y="133941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8" t="0" r="-3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0" y="600847"/>
            <a:ext cx="6216396" cy="759343"/>
            <a:chOff x="0" y="0"/>
            <a:chExt cx="8288528" cy="10124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288528" cy="1012444"/>
            </a:xfrm>
            <a:custGeom>
              <a:avLst/>
              <a:gdLst/>
              <a:ahLst/>
              <a:cxnLst/>
              <a:rect r="r" b="b" t="t" l="l"/>
              <a:pathLst>
                <a:path h="1012444" w="8288528">
                  <a:moveTo>
                    <a:pt x="0" y="0"/>
                  </a:moveTo>
                  <a:lnTo>
                    <a:pt x="0" y="1012444"/>
                  </a:lnTo>
                  <a:lnTo>
                    <a:pt x="7218807" y="1012444"/>
                  </a:lnTo>
                  <a:lnTo>
                    <a:pt x="8288528" y="127"/>
                  </a:lnTo>
                  <a:lnTo>
                    <a:pt x="8288528" y="0"/>
                  </a:lnTo>
                  <a:close/>
                </a:path>
              </a:pathLst>
            </a:custGeom>
            <a:solidFill>
              <a:srgbClr val="F5812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-26" y="-36"/>
            <a:ext cx="6473441" cy="407799"/>
          </a:xfrm>
          <a:custGeom>
            <a:avLst/>
            <a:gdLst/>
            <a:ahLst/>
            <a:cxnLst/>
            <a:rect r="r" b="b" t="t" l="l"/>
            <a:pathLst>
              <a:path h="407799" w="6473441">
                <a:moveTo>
                  <a:pt x="0" y="0"/>
                </a:moveTo>
                <a:lnTo>
                  <a:pt x="6473441" y="0"/>
                </a:lnTo>
                <a:lnTo>
                  <a:pt x="6473441" y="407799"/>
                </a:lnTo>
                <a:lnTo>
                  <a:pt x="0" y="4077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33045" y="573500"/>
            <a:ext cx="6751082" cy="647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Requirements analysis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5118551" y="-3502858"/>
            <a:ext cx="6837001" cy="11572976"/>
          </a:xfrm>
          <a:custGeom>
            <a:avLst/>
            <a:gdLst/>
            <a:ahLst/>
            <a:cxnLst/>
            <a:rect r="r" b="b" t="t" l="l"/>
            <a:pathLst>
              <a:path h="11572976" w="6837001">
                <a:moveTo>
                  <a:pt x="0" y="0"/>
                </a:moveTo>
                <a:lnTo>
                  <a:pt x="6837001" y="0"/>
                </a:lnTo>
                <a:lnTo>
                  <a:pt x="6837001" y="11572976"/>
                </a:lnTo>
                <a:lnTo>
                  <a:pt x="0" y="115729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613066" y="1738903"/>
            <a:ext cx="6649066" cy="11161070"/>
          </a:xfrm>
          <a:custGeom>
            <a:avLst/>
            <a:gdLst/>
            <a:ahLst/>
            <a:cxnLst/>
            <a:rect r="r" b="b" t="t" l="l"/>
            <a:pathLst>
              <a:path h="11161070" w="6649066">
                <a:moveTo>
                  <a:pt x="0" y="0"/>
                </a:moveTo>
                <a:lnTo>
                  <a:pt x="6649066" y="0"/>
                </a:lnTo>
                <a:lnTo>
                  <a:pt x="6649066" y="11161070"/>
                </a:lnTo>
                <a:lnTo>
                  <a:pt x="0" y="111610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118551" y="-3502858"/>
            <a:ext cx="6837001" cy="11572976"/>
          </a:xfrm>
          <a:custGeom>
            <a:avLst/>
            <a:gdLst/>
            <a:ahLst/>
            <a:cxnLst/>
            <a:rect r="r" b="b" t="t" l="l"/>
            <a:pathLst>
              <a:path h="11572976" w="6837001">
                <a:moveTo>
                  <a:pt x="0" y="0"/>
                </a:moveTo>
                <a:lnTo>
                  <a:pt x="6837001" y="0"/>
                </a:lnTo>
                <a:lnTo>
                  <a:pt x="6837001" y="11572976"/>
                </a:lnTo>
                <a:lnTo>
                  <a:pt x="0" y="115729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1015139" y="5027943"/>
            <a:ext cx="10518153" cy="10518115"/>
            <a:chOff x="0" y="0"/>
            <a:chExt cx="14024204" cy="1402415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024229" cy="14024229"/>
            </a:xfrm>
            <a:custGeom>
              <a:avLst/>
              <a:gdLst/>
              <a:ahLst/>
              <a:cxnLst/>
              <a:rect r="r" b="b" t="t" l="l"/>
              <a:pathLst>
                <a:path h="14024229" w="14024229">
                  <a:moveTo>
                    <a:pt x="14024229" y="7012178"/>
                  </a:moveTo>
                  <a:cubicBezTo>
                    <a:pt x="14024229" y="10884663"/>
                    <a:pt x="10884789" y="14024229"/>
                    <a:pt x="7012178" y="14024229"/>
                  </a:cubicBezTo>
                  <a:cubicBezTo>
                    <a:pt x="3139567" y="14024229"/>
                    <a:pt x="0" y="10884662"/>
                    <a:pt x="0" y="7012178"/>
                  </a:cubicBezTo>
                  <a:cubicBezTo>
                    <a:pt x="0" y="3139440"/>
                    <a:pt x="3139440" y="0"/>
                    <a:pt x="7012051" y="0"/>
                  </a:cubicBezTo>
                  <a:cubicBezTo>
                    <a:pt x="10884662" y="0"/>
                    <a:pt x="14024102" y="3139440"/>
                    <a:pt x="14024102" y="7012178"/>
                  </a:cubicBezTo>
                  <a:close/>
                </a:path>
              </a:pathLst>
            </a:custGeom>
            <a:blipFill>
              <a:blip r:embed="rId10"/>
              <a:stretch>
                <a:fillRect l="-38837" t="0" r="-38837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1224196" y="5236979"/>
            <a:ext cx="10100042" cy="10100042"/>
          </a:xfrm>
          <a:custGeom>
            <a:avLst/>
            <a:gdLst/>
            <a:ahLst/>
            <a:cxnLst/>
            <a:rect r="r" b="b" t="t" l="l"/>
            <a:pathLst>
              <a:path h="10100042" w="10100042">
                <a:moveTo>
                  <a:pt x="0" y="0"/>
                </a:moveTo>
                <a:lnTo>
                  <a:pt x="10100042" y="0"/>
                </a:lnTo>
                <a:lnTo>
                  <a:pt x="10100042" y="10100042"/>
                </a:lnTo>
                <a:lnTo>
                  <a:pt x="0" y="1010004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895410" y="9716859"/>
            <a:ext cx="9392544" cy="570101"/>
          </a:xfrm>
          <a:custGeom>
            <a:avLst/>
            <a:gdLst/>
            <a:ahLst/>
            <a:cxnLst/>
            <a:rect r="r" b="b" t="t" l="l"/>
            <a:pathLst>
              <a:path h="570101" w="9392544">
                <a:moveTo>
                  <a:pt x="0" y="0"/>
                </a:moveTo>
                <a:lnTo>
                  <a:pt x="9392544" y="0"/>
                </a:lnTo>
                <a:lnTo>
                  <a:pt x="9392544" y="570101"/>
                </a:lnTo>
                <a:lnTo>
                  <a:pt x="0" y="57010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704577" y="6090047"/>
            <a:ext cx="2243490" cy="1304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099"/>
              </a:lnSpc>
            </a:pPr>
            <a:r>
              <a:rPr lang="en-US" sz="6498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  <a:r>
              <a:rPr lang="en-US" sz="6498" b="true">
                <a:solidFill>
                  <a:srgbClr val="5271FF"/>
                </a:solidFill>
                <a:latin typeface="Poppins Bold"/>
                <a:ea typeface="Poppins Bold"/>
                <a:cs typeface="Poppins Bold"/>
                <a:sym typeface="Poppins Bold"/>
              </a:rPr>
              <a:t>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255515" y="6565040"/>
            <a:ext cx="5978004" cy="713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Les Besoins Fonctionnels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71938" y="7753407"/>
            <a:ext cx="2694670" cy="1304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099"/>
              </a:lnSpc>
            </a:pPr>
            <a:r>
              <a:rPr lang="en-US" sz="6498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  <a:r>
              <a:rPr lang="en-US" sz="6498" b="true">
                <a:solidFill>
                  <a:srgbClr val="5271FF"/>
                </a:solidFill>
                <a:latin typeface="Poppins Bold"/>
                <a:ea typeface="Poppins Bold"/>
                <a:cs typeface="Poppins Bold"/>
                <a:sym typeface="Poppins Bold"/>
              </a:rPr>
              <a:t>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935882" y="8239135"/>
            <a:ext cx="7180231" cy="713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Les Besoins non Fonctionnels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4779330" y="3542369"/>
            <a:ext cx="9470270" cy="2014599"/>
          </a:xfrm>
          <a:custGeom>
            <a:avLst/>
            <a:gdLst/>
            <a:ahLst/>
            <a:cxnLst/>
            <a:rect r="r" b="b" t="t" l="l"/>
            <a:pathLst>
              <a:path h="2014599" w="9470270">
                <a:moveTo>
                  <a:pt x="0" y="0"/>
                </a:moveTo>
                <a:lnTo>
                  <a:pt x="9470270" y="0"/>
                </a:lnTo>
                <a:lnTo>
                  <a:pt x="9470270" y="2014599"/>
                </a:lnTo>
                <a:lnTo>
                  <a:pt x="0" y="201459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5994025" y="3873046"/>
            <a:ext cx="8162134" cy="1124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82"/>
              </a:lnSpc>
            </a:pPr>
            <a:r>
              <a:rPr lang="en-US" sz="5557" b="true">
                <a:solidFill>
                  <a:srgbClr val="2269F5"/>
                </a:solidFill>
                <a:latin typeface="Telegraf Bold"/>
                <a:ea typeface="Telegraf Bold"/>
                <a:cs typeface="Telegraf Bold"/>
                <a:sym typeface="Telegraf Bold"/>
              </a:rPr>
              <a:t>Analyse des besoins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4252211" y="3817875"/>
            <a:ext cx="1557029" cy="1557029"/>
          </a:xfrm>
          <a:custGeom>
            <a:avLst/>
            <a:gdLst/>
            <a:ahLst/>
            <a:cxnLst/>
            <a:rect r="r" b="b" t="t" l="l"/>
            <a:pathLst>
              <a:path h="1557029" w="1557029">
                <a:moveTo>
                  <a:pt x="0" y="0"/>
                </a:moveTo>
                <a:lnTo>
                  <a:pt x="1557029" y="0"/>
                </a:lnTo>
                <a:lnTo>
                  <a:pt x="1557029" y="1557029"/>
                </a:lnTo>
                <a:lnTo>
                  <a:pt x="0" y="1557029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4357487" y="3613490"/>
            <a:ext cx="1346483" cy="1565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85"/>
              </a:lnSpc>
            </a:pPr>
            <a:r>
              <a:rPr lang="en-US" sz="7703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2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02831" y="9268130"/>
            <a:ext cx="651748" cy="651739"/>
          </a:xfrm>
          <a:custGeom>
            <a:avLst/>
            <a:gdLst/>
            <a:ahLst/>
            <a:cxnLst/>
            <a:rect r="r" b="b" t="t" l="l"/>
            <a:pathLst>
              <a:path h="651739" w="651748">
                <a:moveTo>
                  <a:pt x="0" y="0"/>
                </a:moveTo>
                <a:lnTo>
                  <a:pt x="651748" y="0"/>
                </a:lnTo>
                <a:lnTo>
                  <a:pt x="651748" y="651738"/>
                </a:lnTo>
                <a:lnTo>
                  <a:pt x="0" y="6517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0" y="600847"/>
            <a:ext cx="6216520" cy="1054618"/>
            <a:chOff x="0" y="0"/>
            <a:chExt cx="8288693" cy="14061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288655" cy="1406144"/>
            </a:xfrm>
            <a:custGeom>
              <a:avLst/>
              <a:gdLst/>
              <a:ahLst/>
              <a:cxnLst/>
              <a:rect r="r" b="b" t="t" l="l"/>
              <a:pathLst>
                <a:path h="1406144" w="8288655">
                  <a:moveTo>
                    <a:pt x="0" y="0"/>
                  </a:moveTo>
                  <a:lnTo>
                    <a:pt x="0" y="1406144"/>
                  </a:lnTo>
                  <a:lnTo>
                    <a:pt x="7218807" y="1406144"/>
                  </a:lnTo>
                  <a:lnTo>
                    <a:pt x="8288655" y="0"/>
                  </a:lnTo>
                  <a:close/>
                </a:path>
              </a:pathLst>
            </a:custGeom>
            <a:solidFill>
              <a:srgbClr val="F5812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-26" y="-36"/>
            <a:ext cx="6473441" cy="407799"/>
          </a:xfrm>
          <a:custGeom>
            <a:avLst/>
            <a:gdLst/>
            <a:ahLst/>
            <a:cxnLst/>
            <a:rect r="r" b="b" t="t" l="l"/>
            <a:pathLst>
              <a:path h="407799" w="6473441">
                <a:moveTo>
                  <a:pt x="0" y="0"/>
                </a:moveTo>
                <a:lnTo>
                  <a:pt x="6473441" y="0"/>
                </a:lnTo>
                <a:lnTo>
                  <a:pt x="6473441" y="407799"/>
                </a:lnTo>
                <a:lnTo>
                  <a:pt x="0" y="4077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530904" y="2614803"/>
            <a:ext cx="138922" cy="132493"/>
            <a:chOff x="0" y="0"/>
            <a:chExt cx="185230" cy="17665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5166" cy="176657"/>
            </a:xfrm>
            <a:custGeom>
              <a:avLst/>
              <a:gdLst/>
              <a:ahLst/>
              <a:cxnLst/>
              <a:rect r="r" b="b" t="t" l="l"/>
              <a:pathLst>
                <a:path h="176657" w="185166">
                  <a:moveTo>
                    <a:pt x="0" y="88392"/>
                  </a:moveTo>
                  <a:cubicBezTo>
                    <a:pt x="0" y="39624"/>
                    <a:pt x="41402" y="0"/>
                    <a:pt x="92583" y="0"/>
                  </a:cubicBezTo>
                  <a:cubicBezTo>
                    <a:pt x="143764" y="0"/>
                    <a:pt x="185166" y="39624"/>
                    <a:pt x="185166" y="88392"/>
                  </a:cubicBezTo>
                  <a:cubicBezTo>
                    <a:pt x="185166" y="137160"/>
                    <a:pt x="143637" y="176657"/>
                    <a:pt x="92583" y="176657"/>
                  </a:cubicBezTo>
                  <a:cubicBezTo>
                    <a:pt x="41529" y="176657"/>
                    <a:pt x="0" y="137160"/>
                    <a:pt x="0" y="88392"/>
                  </a:cubicBezTo>
                  <a:close/>
                </a:path>
              </a:pathLst>
            </a:custGeom>
            <a:solidFill>
              <a:srgbClr val="6596FC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86212" y="1788852"/>
            <a:ext cx="628303" cy="754036"/>
          </a:xfrm>
          <a:custGeom>
            <a:avLst/>
            <a:gdLst/>
            <a:ahLst/>
            <a:cxnLst/>
            <a:rect r="r" b="b" t="t" l="l"/>
            <a:pathLst>
              <a:path h="754036" w="628303">
                <a:moveTo>
                  <a:pt x="0" y="0"/>
                </a:moveTo>
                <a:lnTo>
                  <a:pt x="628303" y="0"/>
                </a:lnTo>
                <a:lnTo>
                  <a:pt x="628303" y="754036"/>
                </a:lnTo>
                <a:lnTo>
                  <a:pt x="0" y="7540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530904" y="3916156"/>
            <a:ext cx="138922" cy="132493"/>
            <a:chOff x="0" y="0"/>
            <a:chExt cx="185230" cy="17665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5166" cy="176657"/>
            </a:xfrm>
            <a:custGeom>
              <a:avLst/>
              <a:gdLst/>
              <a:ahLst/>
              <a:cxnLst/>
              <a:rect r="r" b="b" t="t" l="l"/>
              <a:pathLst>
                <a:path h="176657" w="185166">
                  <a:moveTo>
                    <a:pt x="0" y="88392"/>
                  </a:moveTo>
                  <a:cubicBezTo>
                    <a:pt x="0" y="39624"/>
                    <a:pt x="41402" y="0"/>
                    <a:pt x="92583" y="0"/>
                  </a:cubicBezTo>
                  <a:cubicBezTo>
                    <a:pt x="143764" y="0"/>
                    <a:pt x="185166" y="39624"/>
                    <a:pt x="185166" y="88392"/>
                  </a:cubicBezTo>
                  <a:cubicBezTo>
                    <a:pt x="185166" y="137160"/>
                    <a:pt x="143637" y="176657"/>
                    <a:pt x="92583" y="176657"/>
                  </a:cubicBezTo>
                  <a:cubicBezTo>
                    <a:pt x="41529" y="176657"/>
                    <a:pt x="0" y="137160"/>
                    <a:pt x="0" y="88392"/>
                  </a:cubicBezTo>
                  <a:close/>
                </a:path>
              </a:pathLst>
            </a:custGeom>
            <a:solidFill>
              <a:srgbClr val="6596FC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286212" y="3090207"/>
            <a:ext cx="628303" cy="754036"/>
          </a:xfrm>
          <a:custGeom>
            <a:avLst/>
            <a:gdLst/>
            <a:ahLst/>
            <a:cxnLst/>
            <a:rect r="r" b="b" t="t" l="l"/>
            <a:pathLst>
              <a:path h="754036" w="628303">
                <a:moveTo>
                  <a:pt x="0" y="0"/>
                </a:moveTo>
                <a:lnTo>
                  <a:pt x="628303" y="0"/>
                </a:lnTo>
                <a:lnTo>
                  <a:pt x="628303" y="754036"/>
                </a:lnTo>
                <a:lnTo>
                  <a:pt x="0" y="7540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530904" y="5217509"/>
            <a:ext cx="138922" cy="132493"/>
            <a:chOff x="0" y="0"/>
            <a:chExt cx="185230" cy="17665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5166" cy="176657"/>
            </a:xfrm>
            <a:custGeom>
              <a:avLst/>
              <a:gdLst/>
              <a:ahLst/>
              <a:cxnLst/>
              <a:rect r="r" b="b" t="t" l="l"/>
              <a:pathLst>
                <a:path h="176657" w="185166">
                  <a:moveTo>
                    <a:pt x="0" y="88392"/>
                  </a:moveTo>
                  <a:cubicBezTo>
                    <a:pt x="0" y="39624"/>
                    <a:pt x="41402" y="0"/>
                    <a:pt x="92583" y="0"/>
                  </a:cubicBezTo>
                  <a:cubicBezTo>
                    <a:pt x="143764" y="0"/>
                    <a:pt x="185166" y="39624"/>
                    <a:pt x="185166" y="88392"/>
                  </a:cubicBezTo>
                  <a:cubicBezTo>
                    <a:pt x="185166" y="137160"/>
                    <a:pt x="143637" y="176657"/>
                    <a:pt x="92583" y="176657"/>
                  </a:cubicBezTo>
                  <a:cubicBezTo>
                    <a:pt x="41529" y="176657"/>
                    <a:pt x="0" y="137160"/>
                    <a:pt x="0" y="88392"/>
                  </a:cubicBezTo>
                  <a:close/>
                </a:path>
              </a:pathLst>
            </a:custGeom>
            <a:solidFill>
              <a:srgbClr val="6596FC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286212" y="4391562"/>
            <a:ext cx="628303" cy="754036"/>
          </a:xfrm>
          <a:custGeom>
            <a:avLst/>
            <a:gdLst/>
            <a:ahLst/>
            <a:cxnLst/>
            <a:rect r="r" b="b" t="t" l="l"/>
            <a:pathLst>
              <a:path h="754036" w="628303">
                <a:moveTo>
                  <a:pt x="0" y="0"/>
                </a:moveTo>
                <a:lnTo>
                  <a:pt x="628303" y="0"/>
                </a:lnTo>
                <a:lnTo>
                  <a:pt x="628303" y="754036"/>
                </a:lnTo>
                <a:lnTo>
                  <a:pt x="0" y="7540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530904" y="6518872"/>
            <a:ext cx="138922" cy="132493"/>
            <a:chOff x="0" y="0"/>
            <a:chExt cx="185230" cy="17665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5166" cy="176657"/>
            </a:xfrm>
            <a:custGeom>
              <a:avLst/>
              <a:gdLst/>
              <a:ahLst/>
              <a:cxnLst/>
              <a:rect r="r" b="b" t="t" l="l"/>
              <a:pathLst>
                <a:path h="176657" w="185166">
                  <a:moveTo>
                    <a:pt x="0" y="88392"/>
                  </a:moveTo>
                  <a:cubicBezTo>
                    <a:pt x="0" y="39624"/>
                    <a:pt x="41402" y="0"/>
                    <a:pt x="92583" y="0"/>
                  </a:cubicBezTo>
                  <a:cubicBezTo>
                    <a:pt x="143764" y="0"/>
                    <a:pt x="185166" y="39624"/>
                    <a:pt x="185166" y="88392"/>
                  </a:cubicBezTo>
                  <a:cubicBezTo>
                    <a:pt x="185166" y="137160"/>
                    <a:pt x="143637" y="176657"/>
                    <a:pt x="92583" y="176657"/>
                  </a:cubicBezTo>
                  <a:cubicBezTo>
                    <a:pt x="41529" y="176657"/>
                    <a:pt x="0" y="137160"/>
                    <a:pt x="0" y="88392"/>
                  </a:cubicBezTo>
                  <a:close/>
                </a:path>
              </a:pathLst>
            </a:custGeom>
            <a:solidFill>
              <a:srgbClr val="6596FC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286212" y="5692917"/>
            <a:ext cx="628303" cy="754036"/>
          </a:xfrm>
          <a:custGeom>
            <a:avLst/>
            <a:gdLst/>
            <a:ahLst/>
            <a:cxnLst/>
            <a:rect r="r" b="b" t="t" l="l"/>
            <a:pathLst>
              <a:path h="754036" w="628303">
                <a:moveTo>
                  <a:pt x="0" y="0"/>
                </a:moveTo>
                <a:lnTo>
                  <a:pt x="628303" y="0"/>
                </a:lnTo>
                <a:lnTo>
                  <a:pt x="628303" y="754036"/>
                </a:lnTo>
                <a:lnTo>
                  <a:pt x="0" y="7540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530904" y="7820225"/>
            <a:ext cx="138922" cy="132493"/>
            <a:chOff x="0" y="0"/>
            <a:chExt cx="185230" cy="17665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5166" cy="176657"/>
            </a:xfrm>
            <a:custGeom>
              <a:avLst/>
              <a:gdLst/>
              <a:ahLst/>
              <a:cxnLst/>
              <a:rect r="r" b="b" t="t" l="l"/>
              <a:pathLst>
                <a:path h="176657" w="185166">
                  <a:moveTo>
                    <a:pt x="0" y="88392"/>
                  </a:moveTo>
                  <a:cubicBezTo>
                    <a:pt x="0" y="39624"/>
                    <a:pt x="41402" y="0"/>
                    <a:pt x="92583" y="0"/>
                  </a:cubicBezTo>
                  <a:cubicBezTo>
                    <a:pt x="143764" y="0"/>
                    <a:pt x="185166" y="39624"/>
                    <a:pt x="185166" y="88392"/>
                  </a:cubicBezTo>
                  <a:cubicBezTo>
                    <a:pt x="185166" y="137160"/>
                    <a:pt x="143637" y="176657"/>
                    <a:pt x="92583" y="176657"/>
                  </a:cubicBezTo>
                  <a:cubicBezTo>
                    <a:pt x="41529" y="176657"/>
                    <a:pt x="0" y="137160"/>
                    <a:pt x="0" y="88392"/>
                  </a:cubicBezTo>
                  <a:close/>
                </a:path>
              </a:pathLst>
            </a:custGeom>
            <a:solidFill>
              <a:srgbClr val="6596FC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286212" y="6994272"/>
            <a:ext cx="628303" cy="754036"/>
          </a:xfrm>
          <a:custGeom>
            <a:avLst/>
            <a:gdLst/>
            <a:ahLst/>
            <a:cxnLst/>
            <a:rect r="r" b="b" t="t" l="l"/>
            <a:pathLst>
              <a:path h="754036" w="628303">
                <a:moveTo>
                  <a:pt x="0" y="0"/>
                </a:moveTo>
                <a:lnTo>
                  <a:pt x="628303" y="0"/>
                </a:lnTo>
                <a:lnTo>
                  <a:pt x="628303" y="754036"/>
                </a:lnTo>
                <a:lnTo>
                  <a:pt x="0" y="7540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530904" y="9121578"/>
            <a:ext cx="138922" cy="132493"/>
            <a:chOff x="0" y="0"/>
            <a:chExt cx="185230" cy="17665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85166" cy="176657"/>
            </a:xfrm>
            <a:custGeom>
              <a:avLst/>
              <a:gdLst/>
              <a:ahLst/>
              <a:cxnLst/>
              <a:rect r="r" b="b" t="t" l="l"/>
              <a:pathLst>
                <a:path h="176657" w="185166">
                  <a:moveTo>
                    <a:pt x="0" y="88392"/>
                  </a:moveTo>
                  <a:cubicBezTo>
                    <a:pt x="0" y="39624"/>
                    <a:pt x="41402" y="0"/>
                    <a:pt x="92583" y="0"/>
                  </a:cubicBezTo>
                  <a:cubicBezTo>
                    <a:pt x="143764" y="0"/>
                    <a:pt x="185166" y="39624"/>
                    <a:pt x="185166" y="88392"/>
                  </a:cubicBezTo>
                  <a:cubicBezTo>
                    <a:pt x="185166" y="137160"/>
                    <a:pt x="143637" y="176657"/>
                    <a:pt x="92583" y="176657"/>
                  </a:cubicBezTo>
                  <a:cubicBezTo>
                    <a:pt x="41529" y="176657"/>
                    <a:pt x="0" y="137160"/>
                    <a:pt x="0" y="88392"/>
                  </a:cubicBezTo>
                  <a:close/>
                </a:path>
              </a:pathLst>
            </a:custGeom>
            <a:solidFill>
              <a:srgbClr val="6596FC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23" id="23"/>
          <p:cNvSpPr/>
          <p:nvPr/>
        </p:nvSpPr>
        <p:spPr>
          <a:xfrm flipH="false" flipV="false" rot="0">
            <a:off x="286212" y="8295627"/>
            <a:ext cx="628303" cy="754036"/>
          </a:xfrm>
          <a:custGeom>
            <a:avLst/>
            <a:gdLst/>
            <a:ahLst/>
            <a:cxnLst/>
            <a:rect r="r" b="b" t="t" l="l"/>
            <a:pathLst>
              <a:path h="754036" w="628303">
                <a:moveTo>
                  <a:pt x="0" y="0"/>
                </a:moveTo>
                <a:lnTo>
                  <a:pt x="628303" y="0"/>
                </a:lnTo>
                <a:lnTo>
                  <a:pt x="628303" y="754036"/>
                </a:lnTo>
                <a:lnTo>
                  <a:pt x="0" y="7540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422405" y="8354578"/>
            <a:ext cx="381200" cy="426139"/>
          </a:xfrm>
          <a:custGeom>
            <a:avLst/>
            <a:gdLst/>
            <a:ahLst/>
            <a:cxnLst/>
            <a:rect r="r" b="b" t="t" l="l"/>
            <a:pathLst>
              <a:path h="426139" w="381200">
                <a:moveTo>
                  <a:pt x="0" y="0"/>
                </a:moveTo>
                <a:lnTo>
                  <a:pt x="381200" y="0"/>
                </a:lnTo>
                <a:lnTo>
                  <a:pt x="381200" y="426138"/>
                </a:lnTo>
                <a:lnTo>
                  <a:pt x="0" y="42613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927" t="0" r="-924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8054905" y="40631"/>
            <a:ext cx="8671996" cy="10131722"/>
          </a:xfrm>
          <a:custGeom>
            <a:avLst/>
            <a:gdLst/>
            <a:ahLst/>
            <a:cxnLst/>
            <a:rect r="r" b="b" t="t" l="l"/>
            <a:pathLst>
              <a:path h="10131722" w="8671996">
                <a:moveTo>
                  <a:pt x="0" y="0"/>
                </a:moveTo>
                <a:lnTo>
                  <a:pt x="8671996" y="0"/>
                </a:lnTo>
                <a:lnTo>
                  <a:pt x="8671996" y="10131722"/>
                </a:lnTo>
                <a:lnTo>
                  <a:pt x="0" y="1013172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43070" t="-6917" r="0" b="-3294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100023" y="2010851"/>
            <a:ext cx="2995108" cy="275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9"/>
              </a:lnSpc>
            </a:pPr>
            <a:r>
              <a:rPr lang="en-US" sz="1701" spc="166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701" spc="166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Gestion des Chambres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00023" y="3312204"/>
            <a:ext cx="3468310" cy="275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9"/>
              </a:lnSpc>
            </a:pPr>
            <a:r>
              <a:rPr lang="en-US" sz="1701" spc="166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Gestion des Réservations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00023" y="4613558"/>
            <a:ext cx="2863492" cy="570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8"/>
              </a:lnSpc>
            </a:pPr>
            <a:r>
              <a:rPr lang="en-US" sz="1701" spc="166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Gestion des clients</a:t>
            </a:r>
          </a:p>
          <a:p>
            <a:pPr algn="l">
              <a:lnSpc>
                <a:spcPts val="2349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916343" y="9346492"/>
            <a:ext cx="213274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41E1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9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86255" y="864356"/>
            <a:ext cx="5344277" cy="531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9"/>
              </a:lnSpc>
            </a:pPr>
            <a:r>
              <a:rPr lang="en-US" sz="34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Besoins Fonctionnels 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00023" y="5914920"/>
            <a:ext cx="2995108" cy="275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9"/>
              </a:lnSpc>
            </a:pPr>
            <a:r>
              <a:rPr lang="en-US" sz="1701" spc="166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 Factura</a:t>
            </a:r>
            <a:r>
              <a:rPr lang="en-US" sz="1701" spc="166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tion &amp; services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29617" y="7156190"/>
            <a:ext cx="3145022" cy="275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9"/>
              </a:lnSpc>
            </a:pPr>
            <a:r>
              <a:rPr lang="en-US" sz="1701" spc="166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 Stati</a:t>
            </a:r>
            <a:r>
              <a:rPr lang="en-US" sz="1701" spc="166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stiques &amp; pilotage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00023" y="8508101"/>
            <a:ext cx="3700520" cy="544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1"/>
              </a:lnSpc>
            </a:pPr>
            <a:r>
              <a:rPr lang="en-US" sz="1601" spc="157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Gestion du Personnel &amp; Entretien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34645" y="1932178"/>
            <a:ext cx="34885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🏨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34645" y="3212422"/>
            <a:ext cx="34885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📅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434645" y="4534884"/>
            <a:ext cx="415528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👥 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34645" y="5835777"/>
            <a:ext cx="34885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💰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34645" y="7137140"/>
            <a:ext cx="34885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📊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02831" y="9268130"/>
            <a:ext cx="651748" cy="651739"/>
          </a:xfrm>
          <a:custGeom>
            <a:avLst/>
            <a:gdLst/>
            <a:ahLst/>
            <a:cxnLst/>
            <a:rect r="r" b="b" t="t" l="l"/>
            <a:pathLst>
              <a:path h="651739" w="651748">
                <a:moveTo>
                  <a:pt x="0" y="0"/>
                </a:moveTo>
                <a:lnTo>
                  <a:pt x="651748" y="0"/>
                </a:lnTo>
                <a:lnTo>
                  <a:pt x="651748" y="651738"/>
                </a:lnTo>
                <a:lnTo>
                  <a:pt x="0" y="6517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31649" y="2386108"/>
            <a:ext cx="133350" cy="133350"/>
          </a:xfrm>
          <a:custGeom>
            <a:avLst/>
            <a:gdLst/>
            <a:ahLst/>
            <a:cxnLst/>
            <a:rect r="r" b="b" t="t" l="l"/>
            <a:pathLst>
              <a:path h="133350" w="133350">
                <a:moveTo>
                  <a:pt x="0" y="0"/>
                </a:moveTo>
                <a:lnTo>
                  <a:pt x="133350" y="0"/>
                </a:lnTo>
                <a:lnTo>
                  <a:pt x="133350" y="133350"/>
                </a:lnTo>
                <a:lnTo>
                  <a:pt x="0" y="1333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31649" y="4887611"/>
            <a:ext cx="133350" cy="133350"/>
          </a:xfrm>
          <a:custGeom>
            <a:avLst/>
            <a:gdLst/>
            <a:ahLst/>
            <a:cxnLst/>
            <a:rect r="r" b="b" t="t" l="l"/>
            <a:pathLst>
              <a:path h="133350" w="133350">
                <a:moveTo>
                  <a:pt x="0" y="0"/>
                </a:moveTo>
                <a:lnTo>
                  <a:pt x="133350" y="0"/>
                </a:lnTo>
                <a:lnTo>
                  <a:pt x="133350" y="133350"/>
                </a:lnTo>
                <a:lnTo>
                  <a:pt x="0" y="1333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964703" y="600847"/>
            <a:ext cx="8181251" cy="1054656"/>
          </a:xfrm>
          <a:custGeom>
            <a:avLst/>
            <a:gdLst/>
            <a:ahLst/>
            <a:cxnLst/>
            <a:rect r="r" b="b" t="t" l="l"/>
            <a:pathLst>
              <a:path h="1054656" w="8181251">
                <a:moveTo>
                  <a:pt x="0" y="0"/>
                </a:moveTo>
                <a:lnTo>
                  <a:pt x="8181251" y="0"/>
                </a:lnTo>
                <a:lnTo>
                  <a:pt x="8181251" y="1054655"/>
                </a:lnTo>
                <a:lnTo>
                  <a:pt x="0" y="105465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571" r="0" b="-57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6" y="-36"/>
            <a:ext cx="6473441" cy="407799"/>
          </a:xfrm>
          <a:custGeom>
            <a:avLst/>
            <a:gdLst/>
            <a:ahLst/>
            <a:cxnLst/>
            <a:rect r="r" b="b" t="t" l="l"/>
            <a:pathLst>
              <a:path h="407799" w="6473441">
                <a:moveTo>
                  <a:pt x="0" y="0"/>
                </a:moveTo>
                <a:lnTo>
                  <a:pt x="6473441" y="0"/>
                </a:lnTo>
                <a:lnTo>
                  <a:pt x="6473441" y="407799"/>
                </a:lnTo>
                <a:lnTo>
                  <a:pt x="0" y="40779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623630" y="-1989734"/>
            <a:ext cx="12317139" cy="13394150"/>
          </a:xfrm>
          <a:custGeom>
            <a:avLst/>
            <a:gdLst/>
            <a:ahLst/>
            <a:cxnLst/>
            <a:rect r="r" b="b" t="t" l="l"/>
            <a:pathLst>
              <a:path h="13394150" w="12317139">
                <a:moveTo>
                  <a:pt x="0" y="0"/>
                </a:moveTo>
                <a:lnTo>
                  <a:pt x="12317140" y="0"/>
                </a:lnTo>
                <a:lnTo>
                  <a:pt x="12317140" y="13394150"/>
                </a:lnTo>
                <a:lnTo>
                  <a:pt x="0" y="1339415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5" t="0" r="-5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320821" y="3936221"/>
            <a:ext cx="290421" cy="583704"/>
          </a:xfrm>
          <a:custGeom>
            <a:avLst/>
            <a:gdLst/>
            <a:ahLst/>
            <a:cxnLst/>
            <a:rect r="r" b="b" t="t" l="l"/>
            <a:pathLst>
              <a:path h="583704" w="290421">
                <a:moveTo>
                  <a:pt x="0" y="0"/>
                </a:moveTo>
                <a:lnTo>
                  <a:pt x="290420" y="0"/>
                </a:lnTo>
                <a:lnTo>
                  <a:pt x="290420" y="583704"/>
                </a:lnTo>
                <a:lnTo>
                  <a:pt x="0" y="58370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891290" y="3810762"/>
            <a:ext cx="1151570" cy="1229971"/>
          </a:xfrm>
          <a:custGeom>
            <a:avLst/>
            <a:gdLst/>
            <a:ahLst/>
            <a:cxnLst/>
            <a:rect r="r" b="b" t="t" l="l"/>
            <a:pathLst>
              <a:path h="1229971" w="1151570">
                <a:moveTo>
                  <a:pt x="0" y="0"/>
                </a:moveTo>
                <a:lnTo>
                  <a:pt x="1151569" y="0"/>
                </a:lnTo>
                <a:lnTo>
                  <a:pt x="1151569" y="1229972"/>
                </a:lnTo>
                <a:lnTo>
                  <a:pt x="0" y="122997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31649" y="7391895"/>
            <a:ext cx="133350" cy="133350"/>
          </a:xfrm>
          <a:custGeom>
            <a:avLst/>
            <a:gdLst/>
            <a:ahLst/>
            <a:cxnLst/>
            <a:rect r="r" b="b" t="t" l="l"/>
            <a:pathLst>
              <a:path h="133350" w="133350">
                <a:moveTo>
                  <a:pt x="0" y="0"/>
                </a:moveTo>
                <a:lnTo>
                  <a:pt x="133350" y="0"/>
                </a:lnTo>
                <a:lnTo>
                  <a:pt x="133350" y="133350"/>
                </a:lnTo>
                <a:lnTo>
                  <a:pt x="0" y="1333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64722" y="8893864"/>
            <a:ext cx="85725" cy="85725"/>
          </a:xfrm>
          <a:custGeom>
            <a:avLst/>
            <a:gdLst/>
            <a:ahLst/>
            <a:cxnLst/>
            <a:rect r="r" b="b" t="t" l="l"/>
            <a:pathLst>
              <a:path h="85725" w="85725">
                <a:moveTo>
                  <a:pt x="0" y="0"/>
                </a:moveTo>
                <a:lnTo>
                  <a:pt x="85725" y="0"/>
                </a:lnTo>
                <a:lnTo>
                  <a:pt x="85725" y="85725"/>
                </a:lnTo>
                <a:lnTo>
                  <a:pt x="0" y="8572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97293" y="9346492"/>
            <a:ext cx="401031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41E1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10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04048" y="4539663"/>
            <a:ext cx="1800701" cy="595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Sécurité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04048" y="2098129"/>
            <a:ext cx="5503735" cy="537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Fiabilité &amp; </a:t>
            </a:r>
            <a:r>
              <a:rPr lang="en-US" sz="31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maintenabilité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53013" y="910342"/>
            <a:ext cx="5422954" cy="444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7"/>
              </a:lnSpc>
            </a:pPr>
            <a:r>
              <a:rPr lang="en-US" sz="30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Besoins non Fonctionnels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04048" y="7064521"/>
            <a:ext cx="3053772" cy="537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Utilis</a:t>
            </a:r>
            <a:r>
              <a:rPr lang="en-US" sz="31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abilité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85585" y="8042310"/>
            <a:ext cx="9692335" cy="331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0" indent="-215900" lvl="1">
              <a:lnSpc>
                <a:spcPts val="2786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nterface intuitive et facile à prendre en main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871958" y="8698135"/>
            <a:ext cx="8305962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</a:t>
            </a: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terface claire et accessible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77736" y="2900477"/>
            <a:ext cx="5069157" cy="331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0" indent="-215900" lvl="1">
              <a:lnSpc>
                <a:spcPts val="2786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Disponibilité élevée du système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828771" y="3470577"/>
            <a:ext cx="5658098" cy="331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0" indent="-215900" lvl="1">
              <a:lnSpc>
                <a:spcPts val="2786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Gestio</a:t>
            </a: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 des erreurs sans interruption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77736" y="5417604"/>
            <a:ext cx="6484805" cy="168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0" indent="-215900" lvl="1">
              <a:lnSpc>
                <a:spcPts val="10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Authentification</a:t>
            </a: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par identifiant et mot de passe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8700" y="5741943"/>
            <a:ext cx="8498472" cy="331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0" indent="-215900" lvl="1">
              <a:lnSpc>
                <a:spcPts val="2786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Gestio</a:t>
            </a: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 des rôles utilisateurs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707262" y="4020245"/>
            <a:ext cx="5729192" cy="331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0" indent="-215900" lvl="1">
              <a:lnSpc>
                <a:spcPts val="2786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rchitecture MVC et code maintenable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89773" y="6197746"/>
            <a:ext cx="8498472" cy="331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0" indent="-215900" lvl="1">
              <a:lnSpc>
                <a:spcPts val="2786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Protectio</a:t>
            </a: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 contre les injections SQL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482539" y="6653549"/>
            <a:ext cx="8498472" cy="331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0" indent="-215900" lvl="1">
              <a:lnSpc>
                <a:spcPts val="2786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Sauvegardes automatiqu</a:t>
            </a: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es des données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02831" y="9268130"/>
            <a:ext cx="651748" cy="651739"/>
          </a:xfrm>
          <a:custGeom>
            <a:avLst/>
            <a:gdLst/>
            <a:ahLst/>
            <a:cxnLst/>
            <a:rect r="r" b="b" t="t" l="l"/>
            <a:pathLst>
              <a:path h="651739" w="651748">
                <a:moveTo>
                  <a:pt x="0" y="0"/>
                </a:moveTo>
                <a:lnTo>
                  <a:pt x="651748" y="0"/>
                </a:lnTo>
                <a:lnTo>
                  <a:pt x="651748" y="651738"/>
                </a:lnTo>
                <a:lnTo>
                  <a:pt x="0" y="6517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0" y="600847"/>
            <a:ext cx="6216396" cy="759343"/>
            <a:chOff x="0" y="0"/>
            <a:chExt cx="8288528" cy="10124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288528" cy="1012444"/>
            </a:xfrm>
            <a:custGeom>
              <a:avLst/>
              <a:gdLst/>
              <a:ahLst/>
              <a:cxnLst/>
              <a:rect r="r" b="b" t="t" l="l"/>
              <a:pathLst>
                <a:path h="1012444" w="8288528">
                  <a:moveTo>
                    <a:pt x="0" y="0"/>
                  </a:moveTo>
                  <a:lnTo>
                    <a:pt x="0" y="1012444"/>
                  </a:lnTo>
                  <a:lnTo>
                    <a:pt x="7218807" y="1012444"/>
                  </a:lnTo>
                  <a:lnTo>
                    <a:pt x="8288528" y="127"/>
                  </a:lnTo>
                  <a:lnTo>
                    <a:pt x="8288528" y="0"/>
                  </a:lnTo>
                  <a:close/>
                </a:path>
              </a:pathLst>
            </a:custGeom>
            <a:solidFill>
              <a:srgbClr val="F5812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-19" y="4572867"/>
            <a:ext cx="5591804" cy="1141228"/>
            <a:chOff x="0" y="0"/>
            <a:chExt cx="7455738" cy="152163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455789" cy="1521587"/>
            </a:xfrm>
            <a:custGeom>
              <a:avLst/>
              <a:gdLst/>
              <a:ahLst/>
              <a:cxnLst/>
              <a:rect r="r" b="b" t="t" l="l"/>
              <a:pathLst>
                <a:path h="1521587" w="7455789">
                  <a:moveTo>
                    <a:pt x="0" y="0"/>
                  </a:moveTo>
                  <a:lnTo>
                    <a:pt x="0" y="1521587"/>
                  </a:lnTo>
                  <a:lnTo>
                    <a:pt x="7020433" y="1521587"/>
                  </a:lnTo>
                  <a:lnTo>
                    <a:pt x="7455789" y="0"/>
                  </a:lnTo>
                  <a:close/>
                </a:path>
              </a:pathLst>
            </a:custGeom>
            <a:solidFill>
              <a:srgbClr val="1E4178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-26" y="-36"/>
            <a:ext cx="6473441" cy="407799"/>
          </a:xfrm>
          <a:custGeom>
            <a:avLst/>
            <a:gdLst/>
            <a:ahLst/>
            <a:cxnLst/>
            <a:rect r="r" b="b" t="t" l="l"/>
            <a:pathLst>
              <a:path h="407799" w="6473441">
                <a:moveTo>
                  <a:pt x="0" y="0"/>
                </a:moveTo>
                <a:lnTo>
                  <a:pt x="6473441" y="0"/>
                </a:lnTo>
                <a:lnTo>
                  <a:pt x="6473441" y="407799"/>
                </a:lnTo>
                <a:lnTo>
                  <a:pt x="0" y="4077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623630" y="-1989734"/>
            <a:ext cx="12317139" cy="13394150"/>
          </a:xfrm>
          <a:custGeom>
            <a:avLst/>
            <a:gdLst/>
            <a:ahLst/>
            <a:cxnLst/>
            <a:rect r="r" b="b" t="t" l="l"/>
            <a:pathLst>
              <a:path h="13394150" w="12317139">
                <a:moveTo>
                  <a:pt x="0" y="0"/>
                </a:moveTo>
                <a:lnTo>
                  <a:pt x="12317140" y="0"/>
                </a:lnTo>
                <a:lnTo>
                  <a:pt x="12317140" y="13394150"/>
                </a:lnTo>
                <a:lnTo>
                  <a:pt x="0" y="133941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5" t="0" r="-5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216386" y="-121082"/>
            <a:ext cx="10180775" cy="9715081"/>
          </a:xfrm>
          <a:custGeom>
            <a:avLst/>
            <a:gdLst/>
            <a:ahLst/>
            <a:cxnLst/>
            <a:rect r="r" b="b" t="t" l="l"/>
            <a:pathLst>
              <a:path h="9715081" w="10180775">
                <a:moveTo>
                  <a:pt x="0" y="0"/>
                </a:moveTo>
                <a:lnTo>
                  <a:pt x="10180776" y="0"/>
                </a:lnTo>
                <a:lnTo>
                  <a:pt x="10180776" y="9715081"/>
                </a:lnTo>
                <a:lnTo>
                  <a:pt x="0" y="971508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-39562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68192" y="582073"/>
            <a:ext cx="5123593" cy="663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8"/>
              </a:lnSpc>
            </a:pPr>
            <a:r>
              <a:rPr lang="en-US" sz="34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Analyse des besoins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5451" y="4624064"/>
            <a:ext cx="5123593" cy="943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 b="true">
                <a:solidFill>
                  <a:srgbClr val="EEEEE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Diagramme de classe d’analyse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87768" y="9346492"/>
            <a:ext cx="279921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41E1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02831" y="9268130"/>
            <a:ext cx="651748" cy="651739"/>
          </a:xfrm>
          <a:custGeom>
            <a:avLst/>
            <a:gdLst/>
            <a:ahLst/>
            <a:cxnLst/>
            <a:rect r="r" b="b" t="t" l="l"/>
            <a:pathLst>
              <a:path h="651739" w="651748">
                <a:moveTo>
                  <a:pt x="0" y="0"/>
                </a:moveTo>
                <a:lnTo>
                  <a:pt x="651748" y="0"/>
                </a:lnTo>
                <a:lnTo>
                  <a:pt x="651748" y="651738"/>
                </a:lnTo>
                <a:lnTo>
                  <a:pt x="0" y="6517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0" y="600847"/>
            <a:ext cx="6216396" cy="759343"/>
            <a:chOff x="0" y="0"/>
            <a:chExt cx="8288528" cy="10124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288528" cy="1012444"/>
            </a:xfrm>
            <a:custGeom>
              <a:avLst/>
              <a:gdLst/>
              <a:ahLst/>
              <a:cxnLst/>
              <a:rect r="r" b="b" t="t" l="l"/>
              <a:pathLst>
                <a:path h="1012444" w="8288528">
                  <a:moveTo>
                    <a:pt x="0" y="0"/>
                  </a:moveTo>
                  <a:lnTo>
                    <a:pt x="0" y="1012444"/>
                  </a:lnTo>
                  <a:lnTo>
                    <a:pt x="7218807" y="1012444"/>
                  </a:lnTo>
                  <a:lnTo>
                    <a:pt x="8288528" y="127"/>
                  </a:lnTo>
                  <a:lnTo>
                    <a:pt x="8288528" y="0"/>
                  </a:lnTo>
                  <a:close/>
                </a:path>
              </a:pathLst>
            </a:custGeom>
            <a:solidFill>
              <a:srgbClr val="F5812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-19" y="4572867"/>
            <a:ext cx="4480808" cy="1141228"/>
            <a:chOff x="0" y="0"/>
            <a:chExt cx="5974410" cy="152163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974461" cy="1521587"/>
            </a:xfrm>
            <a:custGeom>
              <a:avLst/>
              <a:gdLst/>
              <a:ahLst/>
              <a:cxnLst/>
              <a:rect r="r" b="b" t="t" l="l"/>
              <a:pathLst>
                <a:path h="1521587" w="5974461">
                  <a:moveTo>
                    <a:pt x="0" y="0"/>
                  </a:moveTo>
                  <a:lnTo>
                    <a:pt x="0" y="1521587"/>
                  </a:lnTo>
                  <a:lnTo>
                    <a:pt x="5625593" y="1521587"/>
                  </a:lnTo>
                  <a:lnTo>
                    <a:pt x="5974461" y="0"/>
                  </a:lnTo>
                  <a:close/>
                </a:path>
              </a:pathLst>
            </a:custGeom>
            <a:solidFill>
              <a:srgbClr val="1E4178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-26" y="-36"/>
            <a:ext cx="6473441" cy="407799"/>
          </a:xfrm>
          <a:custGeom>
            <a:avLst/>
            <a:gdLst/>
            <a:ahLst/>
            <a:cxnLst/>
            <a:rect r="r" b="b" t="t" l="l"/>
            <a:pathLst>
              <a:path h="407799" w="6473441">
                <a:moveTo>
                  <a:pt x="0" y="0"/>
                </a:moveTo>
                <a:lnTo>
                  <a:pt x="6473441" y="0"/>
                </a:lnTo>
                <a:lnTo>
                  <a:pt x="6473441" y="407799"/>
                </a:lnTo>
                <a:lnTo>
                  <a:pt x="0" y="4077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623630" y="-1989734"/>
            <a:ext cx="12317139" cy="13394150"/>
          </a:xfrm>
          <a:custGeom>
            <a:avLst/>
            <a:gdLst/>
            <a:ahLst/>
            <a:cxnLst/>
            <a:rect r="r" b="b" t="t" l="l"/>
            <a:pathLst>
              <a:path h="13394150" w="12317139">
                <a:moveTo>
                  <a:pt x="0" y="0"/>
                </a:moveTo>
                <a:lnTo>
                  <a:pt x="12317140" y="0"/>
                </a:lnTo>
                <a:lnTo>
                  <a:pt x="12317140" y="13394150"/>
                </a:lnTo>
                <a:lnTo>
                  <a:pt x="0" y="133941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5" t="0" r="-5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480789" y="1754419"/>
            <a:ext cx="13807211" cy="7808291"/>
          </a:xfrm>
          <a:custGeom>
            <a:avLst/>
            <a:gdLst/>
            <a:ahLst/>
            <a:cxnLst/>
            <a:rect r="r" b="b" t="t" l="l"/>
            <a:pathLst>
              <a:path h="7808291" w="13807211">
                <a:moveTo>
                  <a:pt x="0" y="0"/>
                </a:moveTo>
                <a:lnTo>
                  <a:pt x="13807211" y="0"/>
                </a:lnTo>
                <a:lnTo>
                  <a:pt x="13807211" y="7808290"/>
                </a:lnTo>
                <a:lnTo>
                  <a:pt x="0" y="780829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526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68192" y="582073"/>
            <a:ext cx="5123593" cy="663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8"/>
              </a:lnSpc>
            </a:pPr>
            <a:r>
              <a:rPr lang="en-US" sz="34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Analyse des besoins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5451" y="4624064"/>
            <a:ext cx="4305338" cy="789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8"/>
              </a:lnSpc>
            </a:pPr>
            <a:r>
              <a:rPr lang="en-US" sz="2299" b="true">
                <a:solidFill>
                  <a:srgbClr val="EEEEE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MC</a:t>
            </a:r>
            <a:r>
              <a:rPr lang="en-US" sz="2299" b="true">
                <a:solidFill>
                  <a:srgbClr val="EEEEE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 (Modèle Conceptuel de Données)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87768" y="9346492"/>
            <a:ext cx="279921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41E1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18551" y="-3502858"/>
            <a:ext cx="6837001" cy="11572976"/>
          </a:xfrm>
          <a:custGeom>
            <a:avLst/>
            <a:gdLst/>
            <a:ahLst/>
            <a:cxnLst/>
            <a:rect r="r" b="b" t="t" l="l"/>
            <a:pathLst>
              <a:path h="11572976" w="6837001">
                <a:moveTo>
                  <a:pt x="0" y="0"/>
                </a:moveTo>
                <a:lnTo>
                  <a:pt x="6837001" y="0"/>
                </a:lnTo>
                <a:lnTo>
                  <a:pt x="6837001" y="11572976"/>
                </a:lnTo>
                <a:lnTo>
                  <a:pt x="0" y="115729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613066" y="1738903"/>
            <a:ext cx="6649066" cy="11161070"/>
          </a:xfrm>
          <a:custGeom>
            <a:avLst/>
            <a:gdLst/>
            <a:ahLst/>
            <a:cxnLst/>
            <a:rect r="r" b="b" t="t" l="l"/>
            <a:pathLst>
              <a:path h="11161070" w="6649066">
                <a:moveTo>
                  <a:pt x="0" y="0"/>
                </a:moveTo>
                <a:lnTo>
                  <a:pt x="6649066" y="0"/>
                </a:lnTo>
                <a:lnTo>
                  <a:pt x="6649066" y="11161070"/>
                </a:lnTo>
                <a:lnTo>
                  <a:pt x="0" y="111610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343723" y="-2041322"/>
            <a:ext cx="8637184" cy="13394150"/>
          </a:xfrm>
          <a:custGeom>
            <a:avLst/>
            <a:gdLst/>
            <a:ahLst/>
            <a:cxnLst/>
            <a:rect r="r" b="b" t="t" l="l"/>
            <a:pathLst>
              <a:path h="13394150" w="8637184">
                <a:moveTo>
                  <a:pt x="0" y="0"/>
                </a:moveTo>
                <a:lnTo>
                  <a:pt x="8637184" y="0"/>
                </a:lnTo>
                <a:lnTo>
                  <a:pt x="8637184" y="13394150"/>
                </a:lnTo>
                <a:lnTo>
                  <a:pt x="0" y="133941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38" t="0" r="-38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10" y="600847"/>
            <a:ext cx="6216396" cy="759343"/>
            <a:chOff x="0" y="0"/>
            <a:chExt cx="8288528" cy="101245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288528" cy="1012444"/>
            </a:xfrm>
            <a:custGeom>
              <a:avLst/>
              <a:gdLst/>
              <a:ahLst/>
              <a:cxnLst/>
              <a:rect r="r" b="b" t="t" l="l"/>
              <a:pathLst>
                <a:path h="1012444" w="8288528">
                  <a:moveTo>
                    <a:pt x="0" y="0"/>
                  </a:moveTo>
                  <a:lnTo>
                    <a:pt x="0" y="1012444"/>
                  </a:lnTo>
                  <a:lnTo>
                    <a:pt x="7218807" y="1012444"/>
                  </a:lnTo>
                  <a:lnTo>
                    <a:pt x="8288528" y="127"/>
                  </a:lnTo>
                  <a:lnTo>
                    <a:pt x="8288528" y="0"/>
                  </a:lnTo>
                  <a:close/>
                </a:path>
              </a:pathLst>
            </a:custGeom>
            <a:solidFill>
              <a:srgbClr val="F5812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-26" y="-36"/>
            <a:ext cx="6473441" cy="407799"/>
          </a:xfrm>
          <a:custGeom>
            <a:avLst/>
            <a:gdLst/>
            <a:ahLst/>
            <a:cxnLst/>
            <a:rect r="r" b="b" t="t" l="l"/>
            <a:pathLst>
              <a:path h="407799" w="6473441">
                <a:moveTo>
                  <a:pt x="0" y="0"/>
                </a:moveTo>
                <a:lnTo>
                  <a:pt x="6473441" y="0"/>
                </a:lnTo>
                <a:lnTo>
                  <a:pt x="6473441" y="407799"/>
                </a:lnTo>
                <a:lnTo>
                  <a:pt x="0" y="40779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33045" y="573500"/>
            <a:ext cx="6751082" cy="647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Requirements analysis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015139" y="5027943"/>
            <a:ext cx="10518153" cy="10518115"/>
            <a:chOff x="0" y="0"/>
            <a:chExt cx="14024204" cy="1402415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024229" cy="14024229"/>
            </a:xfrm>
            <a:custGeom>
              <a:avLst/>
              <a:gdLst/>
              <a:ahLst/>
              <a:cxnLst/>
              <a:rect r="r" b="b" t="t" l="l"/>
              <a:pathLst>
                <a:path h="14024229" w="14024229">
                  <a:moveTo>
                    <a:pt x="14024229" y="7012178"/>
                  </a:moveTo>
                  <a:cubicBezTo>
                    <a:pt x="14024229" y="10884663"/>
                    <a:pt x="10884789" y="14024229"/>
                    <a:pt x="7012178" y="14024229"/>
                  </a:cubicBezTo>
                  <a:cubicBezTo>
                    <a:pt x="3139567" y="14024229"/>
                    <a:pt x="0" y="10884662"/>
                    <a:pt x="0" y="7012178"/>
                  </a:cubicBezTo>
                  <a:cubicBezTo>
                    <a:pt x="0" y="3139440"/>
                    <a:pt x="3139440" y="0"/>
                    <a:pt x="7012051" y="0"/>
                  </a:cubicBezTo>
                  <a:cubicBezTo>
                    <a:pt x="10884662" y="0"/>
                    <a:pt x="14024102" y="3139440"/>
                    <a:pt x="14024102" y="7012178"/>
                  </a:cubicBezTo>
                  <a:close/>
                </a:path>
              </a:pathLst>
            </a:custGeom>
            <a:blipFill>
              <a:blip r:embed="rId10"/>
              <a:stretch>
                <a:fillRect l="-38837" t="0" r="-38837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1224196" y="5236979"/>
            <a:ext cx="10100042" cy="10100042"/>
          </a:xfrm>
          <a:custGeom>
            <a:avLst/>
            <a:gdLst/>
            <a:ahLst/>
            <a:cxnLst/>
            <a:rect r="r" b="b" t="t" l="l"/>
            <a:pathLst>
              <a:path h="10100042" w="10100042">
                <a:moveTo>
                  <a:pt x="0" y="0"/>
                </a:moveTo>
                <a:lnTo>
                  <a:pt x="10100042" y="0"/>
                </a:lnTo>
                <a:lnTo>
                  <a:pt x="10100042" y="10100042"/>
                </a:lnTo>
                <a:lnTo>
                  <a:pt x="0" y="1010004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895410" y="9716859"/>
            <a:ext cx="9392544" cy="570101"/>
          </a:xfrm>
          <a:custGeom>
            <a:avLst/>
            <a:gdLst/>
            <a:ahLst/>
            <a:cxnLst/>
            <a:rect r="r" b="b" t="t" l="l"/>
            <a:pathLst>
              <a:path h="570101" w="9392544">
                <a:moveTo>
                  <a:pt x="0" y="0"/>
                </a:moveTo>
                <a:lnTo>
                  <a:pt x="9392544" y="0"/>
                </a:lnTo>
                <a:lnTo>
                  <a:pt x="9392544" y="570101"/>
                </a:lnTo>
                <a:lnTo>
                  <a:pt x="0" y="57010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649762" y="1801616"/>
            <a:ext cx="1926603" cy="1926603"/>
          </a:xfrm>
          <a:custGeom>
            <a:avLst/>
            <a:gdLst/>
            <a:ahLst/>
            <a:cxnLst/>
            <a:rect r="r" b="b" t="t" l="l"/>
            <a:pathLst>
              <a:path h="1926603" w="1926603">
                <a:moveTo>
                  <a:pt x="0" y="0"/>
                </a:moveTo>
                <a:lnTo>
                  <a:pt x="1926603" y="0"/>
                </a:lnTo>
                <a:lnTo>
                  <a:pt x="1926603" y="1926602"/>
                </a:lnTo>
                <a:lnTo>
                  <a:pt x="0" y="192660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alphaModFix amt="46000"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557845" y="1328960"/>
            <a:ext cx="9470270" cy="2014599"/>
          </a:xfrm>
          <a:custGeom>
            <a:avLst/>
            <a:gdLst/>
            <a:ahLst/>
            <a:cxnLst/>
            <a:rect r="r" b="b" t="t" l="l"/>
            <a:pathLst>
              <a:path h="2014599" w="9470270">
                <a:moveTo>
                  <a:pt x="0" y="0"/>
                </a:moveTo>
                <a:lnTo>
                  <a:pt x="9470270" y="0"/>
                </a:lnTo>
                <a:lnTo>
                  <a:pt x="9470270" y="2014599"/>
                </a:lnTo>
                <a:lnTo>
                  <a:pt x="0" y="2014599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6772542" y="1659636"/>
            <a:ext cx="8162134" cy="1124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82"/>
              </a:lnSpc>
            </a:pPr>
            <a:r>
              <a:rPr lang="en-US" sz="5557" b="true">
                <a:solidFill>
                  <a:srgbClr val="2269F5"/>
                </a:solidFill>
                <a:latin typeface="Telegraf Bold"/>
                <a:ea typeface="Telegraf Bold"/>
                <a:cs typeface="Telegraf Bold"/>
                <a:sym typeface="Telegraf Bold"/>
              </a:rPr>
              <a:t>Conception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5030726" y="1604466"/>
            <a:ext cx="1557029" cy="1557029"/>
          </a:xfrm>
          <a:custGeom>
            <a:avLst/>
            <a:gdLst/>
            <a:ahLst/>
            <a:cxnLst/>
            <a:rect r="r" b="b" t="t" l="l"/>
            <a:pathLst>
              <a:path h="1557029" w="1557029">
                <a:moveTo>
                  <a:pt x="0" y="0"/>
                </a:moveTo>
                <a:lnTo>
                  <a:pt x="1557029" y="0"/>
                </a:lnTo>
                <a:lnTo>
                  <a:pt x="1557029" y="1557029"/>
                </a:lnTo>
                <a:lnTo>
                  <a:pt x="0" y="1557029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5135999" y="1510303"/>
            <a:ext cx="1346483" cy="1565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85"/>
              </a:lnSpc>
            </a:pPr>
            <a:r>
              <a:rPr lang="en-US" sz="7703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342678" y="3839366"/>
            <a:ext cx="1984981" cy="1304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099"/>
              </a:lnSpc>
            </a:pPr>
            <a:r>
              <a:rPr lang="en-US" sz="6498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  <a:r>
              <a:rPr lang="en-US" sz="6498" b="true">
                <a:solidFill>
                  <a:srgbClr val="5271FF"/>
                </a:solidFill>
                <a:latin typeface="Poppins Bold"/>
                <a:ea typeface="Poppins Bold"/>
                <a:cs typeface="Poppins Bold"/>
                <a:sym typeface="Poppins Bold"/>
              </a:rPr>
              <a:t>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599684" y="4314358"/>
            <a:ext cx="5289194" cy="713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Architecture physique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030724" y="5421668"/>
            <a:ext cx="1814008" cy="1304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099"/>
              </a:lnSpc>
            </a:pPr>
            <a:r>
              <a:rPr lang="en-US" sz="6498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  <a:r>
              <a:rPr lang="en-US" sz="6498" b="true">
                <a:solidFill>
                  <a:srgbClr val="5271FF"/>
                </a:solidFill>
                <a:latin typeface="Poppins Bold"/>
                <a:ea typeface="Poppins Bold"/>
                <a:cs typeface="Poppins Bold"/>
                <a:sym typeface="Poppins Bold"/>
              </a:rPr>
              <a:t>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093325" y="5907443"/>
            <a:ext cx="4833614" cy="713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Architecture logique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829924" y="7259726"/>
            <a:ext cx="2736609" cy="1304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099"/>
              </a:lnSpc>
            </a:pPr>
            <a:r>
              <a:rPr lang="en-US" sz="6498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  <a:r>
              <a:rPr lang="en-US" sz="6498" b="true">
                <a:solidFill>
                  <a:srgbClr val="5271FF"/>
                </a:solidFill>
                <a:latin typeface="Poppins Bold"/>
                <a:ea typeface="Poppins Bold"/>
                <a:cs typeface="Poppins Bold"/>
                <a:sym typeface="Poppins Bold"/>
              </a:rPr>
              <a:t>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941551" y="7732614"/>
            <a:ext cx="7291969" cy="713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Méthodologie adoptée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0" y="8577558"/>
            <a:ext cx="2711939" cy="1304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099"/>
              </a:lnSpc>
            </a:pPr>
            <a:r>
              <a:rPr lang="en-US" sz="6498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4</a:t>
            </a:r>
            <a:r>
              <a:rPr lang="en-US" sz="6498" b="true">
                <a:solidFill>
                  <a:srgbClr val="5271FF"/>
                </a:solidFill>
                <a:latin typeface="Poppins Bold"/>
                <a:ea typeface="Poppins Bold"/>
                <a:cs typeface="Poppins Bold"/>
                <a:sym typeface="Poppins Bold"/>
              </a:rPr>
              <a:t>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089177" y="9065419"/>
            <a:ext cx="7226256" cy="713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Diagrammes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02831" y="9268130"/>
            <a:ext cx="651748" cy="651739"/>
          </a:xfrm>
          <a:custGeom>
            <a:avLst/>
            <a:gdLst/>
            <a:ahLst/>
            <a:cxnLst/>
            <a:rect r="r" b="b" t="t" l="l"/>
            <a:pathLst>
              <a:path h="651739" w="651748">
                <a:moveTo>
                  <a:pt x="0" y="0"/>
                </a:moveTo>
                <a:lnTo>
                  <a:pt x="651748" y="0"/>
                </a:lnTo>
                <a:lnTo>
                  <a:pt x="651748" y="651738"/>
                </a:lnTo>
                <a:lnTo>
                  <a:pt x="0" y="6517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6" y="-36"/>
            <a:ext cx="6473441" cy="407799"/>
          </a:xfrm>
          <a:custGeom>
            <a:avLst/>
            <a:gdLst/>
            <a:ahLst/>
            <a:cxnLst/>
            <a:rect r="r" b="b" t="t" l="l"/>
            <a:pathLst>
              <a:path h="407799" w="6473441">
                <a:moveTo>
                  <a:pt x="0" y="0"/>
                </a:moveTo>
                <a:lnTo>
                  <a:pt x="6473441" y="0"/>
                </a:lnTo>
                <a:lnTo>
                  <a:pt x="6473441" y="407799"/>
                </a:lnTo>
                <a:lnTo>
                  <a:pt x="0" y="4077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633155" y="-1989734"/>
            <a:ext cx="12317139" cy="13394150"/>
          </a:xfrm>
          <a:custGeom>
            <a:avLst/>
            <a:gdLst/>
            <a:ahLst/>
            <a:cxnLst/>
            <a:rect r="r" b="b" t="t" l="l"/>
            <a:pathLst>
              <a:path h="13394150" w="12317139">
                <a:moveTo>
                  <a:pt x="0" y="0"/>
                </a:moveTo>
                <a:lnTo>
                  <a:pt x="12317140" y="0"/>
                </a:lnTo>
                <a:lnTo>
                  <a:pt x="12317140" y="13394150"/>
                </a:lnTo>
                <a:lnTo>
                  <a:pt x="0" y="133941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5" t="0" r="-5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789129" y="3191828"/>
            <a:ext cx="1167614" cy="455399"/>
          </a:xfrm>
          <a:custGeom>
            <a:avLst/>
            <a:gdLst/>
            <a:ahLst/>
            <a:cxnLst/>
            <a:rect r="r" b="b" t="t" l="l"/>
            <a:pathLst>
              <a:path h="455399" w="1167614">
                <a:moveTo>
                  <a:pt x="0" y="0"/>
                </a:moveTo>
                <a:lnTo>
                  <a:pt x="1167614" y="0"/>
                </a:lnTo>
                <a:lnTo>
                  <a:pt x="1167614" y="455399"/>
                </a:lnTo>
                <a:lnTo>
                  <a:pt x="0" y="45539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291908" y="3407706"/>
            <a:ext cx="1884275" cy="461004"/>
          </a:xfrm>
          <a:custGeom>
            <a:avLst/>
            <a:gdLst/>
            <a:ahLst/>
            <a:cxnLst/>
            <a:rect r="r" b="b" t="t" l="l"/>
            <a:pathLst>
              <a:path h="461004" w="1884275">
                <a:moveTo>
                  <a:pt x="0" y="0"/>
                </a:moveTo>
                <a:lnTo>
                  <a:pt x="1884275" y="0"/>
                </a:lnTo>
                <a:lnTo>
                  <a:pt x="1884275" y="461004"/>
                </a:lnTo>
                <a:lnTo>
                  <a:pt x="0" y="46100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4719611" y="3448888"/>
            <a:ext cx="390887" cy="399574"/>
            <a:chOff x="0" y="0"/>
            <a:chExt cx="521183" cy="5327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-48" y="-27"/>
              <a:ext cx="521185" cy="532761"/>
            </a:xfrm>
            <a:custGeom>
              <a:avLst/>
              <a:gdLst/>
              <a:ahLst/>
              <a:cxnLst/>
              <a:rect r="r" b="b" t="t" l="l"/>
              <a:pathLst>
                <a:path h="532761" w="521185">
                  <a:moveTo>
                    <a:pt x="521129" y="186844"/>
                  </a:moveTo>
                  <a:cubicBezTo>
                    <a:pt x="522399" y="355754"/>
                    <a:pt x="502079" y="398934"/>
                    <a:pt x="476679" y="430684"/>
                  </a:cubicBezTo>
                  <a:cubicBezTo>
                    <a:pt x="451279" y="463704"/>
                    <a:pt x="414449" y="492914"/>
                    <a:pt x="376349" y="509424"/>
                  </a:cubicBezTo>
                  <a:cubicBezTo>
                    <a:pt x="338249" y="527204"/>
                    <a:pt x="292529" y="534824"/>
                    <a:pt x="250619" y="532284"/>
                  </a:cubicBezTo>
                  <a:cubicBezTo>
                    <a:pt x="209979" y="529744"/>
                    <a:pt x="164259" y="515774"/>
                    <a:pt x="128699" y="494184"/>
                  </a:cubicBezTo>
                  <a:cubicBezTo>
                    <a:pt x="93139" y="473864"/>
                    <a:pt x="60119" y="439574"/>
                    <a:pt x="38529" y="404014"/>
                  </a:cubicBezTo>
                  <a:cubicBezTo>
                    <a:pt x="16939" y="368454"/>
                    <a:pt x="2969" y="324004"/>
                    <a:pt x="429" y="282094"/>
                  </a:cubicBezTo>
                  <a:cubicBezTo>
                    <a:pt x="-2111" y="241454"/>
                    <a:pt x="6779" y="194464"/>
                    <a:pt x="23289" y="156364"/>
                  </a:cubicBezTo>
                  <a:cubicBezTo>
                    <a:pt x="41069" y="119534"/>
                    <a:pt x="70279" y="81434"/>
                    <a:pt x="102029" y="56034"/>
                  </a:cubicBezTo>
                  <a:cubicBezTo>
                    <a:pt x="135049" y="30634"/>
                    <a:pt x="178229" y="11584"/>
                    <a:pt x="218869" y="3964"/>
                  </a:cubicBezTo>
                  <a:cubicBezTo>
                    <a:pt x="259509" y="-3656"/>
                    <a:pt x="306499" y="154"/>
                    <a:pt x="345869" y="11584"/>
                  </a:cubicBezTo>
                  <a:cubicBezTo>
                    <a:pt x="385239" y="24284"/>
                    <a:pt x="455089" y="77624"/>
                    <a:pt x="455089" y="77624"/>
                  </a:cubicBezTo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3963062" y="3436218"/>
            <a:ext cx="1026553" cy="433228"/>
          </a:xfrm>
          <a:custGeom>
            <a:avLst/>
            <a:gdLst/>
            <a:ahLst/>
            <a:cxnLst/>
            <a:rect r="r" b="b" t="t" l="l"/>
            <a:pathLst>
              <a:path h="433228" w="1026553">
                <a:moveTo>
                  <a:pt x="0" y="0"/>
                </a:moveTo>
                <a:lnTo>
                  <a:pt x="1026553" y="0"/>
                </a:lnTo>
                <a:lnTo>
                  <a:pt x="1026553" y="433228"/>
                </a:lnTo>
                <a:lnTo>
                  <a:pt x="0" y="43322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4779943" y="3825897"/>
            <a:ext cx="232410" cy="31728"/>
            <a:chOff x="0" y="0"/>
            <a:chExt cx="309880" cy="4230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-8"/>
              <a:ext cx="309880" cy="42299"/>
            </a:xfrm>
            <a:custGeom>
              <a:avLst/>
              <a:gdLst/>
              <a:ahLst/>
              <a:cxnLst/>
              <a:rect r="r" b="b" t="t" l="l"/>
              <a:pathLst>
                <a:path h="42299" w="309880">
                  <a:moveTo>
                    <a:pt x="295910" y="29599"/>
                  </a:moveTo>
                  <a:cubicBezTo>
                    <a:pt x="2540" y="38489"/>
                    <a:pt x="0" y="32139"/>
                    <a:pt x="0" y="27059"/>
                  </a:cubicBezTo>
                  <a:cubicBezTo>
                    <a:pt x="0" y="23249"/>
                    <a:pt x="6350" y="15629"/>
                    <a:pt x="10160" y="14359"/>
                  </a:cubicBezTo>
                  <a:cubicBezTo>
                    <a:pt x="15240" y="14359"/>
                    <a:pt x="26670" y="21979"/>
                    <a:pt x="26670" y="25789"/>
                  </a:cubicBezTo>
                  <a:cubicBezTo>
                    <a:pt x="27940" y="30869"/>
                    <a:pt x="20320" y="41029"/>
                    <a:pt x="15240" y="42299"/>
                  </a:cubicBezTo>
                  <a:cubicBezTo>
                    <a:pt x="11430" y="42299"/>
                    <a:pt x="2540" y="37219"/>
                    <a:pt x="1270" y="33409"/>
                  </a:cubicBezTo>
                  <a:cubicBezTo>
                    <a:pt x="0" y="28329"/>
                    <a:pt x="2540" y="20709"/>
                    <a:pt x="8890" y="15629"/>
                  </a:cubicBezTo>
                  <a:cubicBezTo>
                    <a:pt x="31750" y="-881"/>
                    <a:pt x="156210" y="2929"/>
                    <a:pt x="209550" y="1659"/>
                  </a:cubicBezTo>
                  <a:cubicBezTo>
                    <a:pt x="246380" y="1659"/>
                    <a:pt x="285750" y="-3421"/>
                    <a:pt x="299720" y="4199"/>
                  </a:cubicBezTo>
                  <a:cubicBezTo>
                    <a:pt x="306070" y="6739"/>
                    <a:pt x="309880" y="13089"/>
                    <a:pt x="309880" y="18169"/>
                  </a:cubicBezTo>
                  <a:cubicBezTo>
                    <a:pt x="308610" y="21979"/>
                    <a:pt x="295910" y="29599"/>
                    <a:pt x="295910" y="29599"/>
                  </a:cubicBezTo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9839688" y="4785331"/>
            <a:ext cx="323487" cy="548670"/>
          </a:xfrm>
          <a:custGeom>
            <a:avLst/>
            <a:gdLst/>
            <a:ahLst/>
            <a:cxnLst/>
            <a:rect r="r" b="b" t="t" l="l"/>
            <a:pathLst>
              <a:path h="548670" w="323487">
                <a:moveTo>
                  <a:pt x="0" y="0"/>
                </a:moveTo>
                <a:lnTo>
                  <a:pt x="323487" y="0"/>
                </a:lnTo>
                <a:lnTo>
                  <a:pt x="323487" y="548670"/>
                </a:lnTo>
                <a:lnTo>
                  <a:pt x="0" y="54867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9841773" y="5184419"/>
            <a:ext cx="297590" cy="304952"/>
            <a:chOff x="0" y="0"/>
            <a:chExt cx="396786" cy="40660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-40" y="-49"/>
              <a:ext cx="396788" cy="406609"/>
            </a:xfrm>
            <a:custGeom>
              <a:avLst/>
              <a:gdLst/>
              <a:ahLst/>
              <a:cxnLst/>
              <a:rect r="r" b="b" t="t" l="l"/>
              <a:pathLst>
                <a:path h="406609" w="396788">
                  <a:moveTo>
                    <a:pt x="396788" y="142289"/>
                  </a:moveTo>
                  <a:cubicBezTo>
                    <a:pt x="396788" y="270559"/>
                    <a:pt x="382818" y="303579"/>
                    <a:pt x="362498" y="327709"/>
                  </a:cubicBezTo>
                  <a:cubicBezTo>
                    <a:pt x="343448" y="353109"/>
                    <a:pt x="315508" y="375969"/>
                    <a:pt x="286298" y="388669"/>
                  </a:cubicBezTo>
                  <a:cubicBezTo>
                    <a:pt x="257088" y="401369"/>
                    <a:pt x="221528" y="407719"/>
                    <a:pt x="191048" y="406449"/>
                  </a:cubicBezTo>
                  <a:cubicBezTo>
                    <a:pt x="159298" y="403909"/>
                    <a:pt x="125008" y="393749"/>
                    <a:pt x="98338" y="377239"/>
                  </a:cubicBezTo>
                  <a:cubicBezTo>
                    <a:pt x="70398" y="360729"/>
                    <a:pt x="44998" y="335329"/>
                    <a:pt x="28488" y="308659"/>
                  </a:cubicBezTo>
                  <a:cubicBezTo>
                    <a:pt x="13248" y="280719"/>
                    <a:pt x="1818" y="246429"/>
                    <a:pt x="548" y="214679"/>
                  </a:cubicBezTo>
                  <a:cubicBezTo>
                    <a:pt x="-1992" y="184199"/>
                    <a:pt x="4358" y="148639"/>
                    <a:pt x="18328" y="119429"/>
                  </a:cubicBezTo>
                  <a:cubicBezTo>
                    <a:pt x="31028" y="91489"/>
                    <a:pt x="52618" y="62279"/>
                    <a:pt x="78018" y="43229"/>
                  </a:cubicBezTo>
                  <a:cubicBezTo>
                    <a:pt x="102148" y="24179"/>
                    <a:pt x="135168" y="8939"/>
                    <a:pt x="166918" y="2589"/>
                  </a:cubicBezTo>
                  <a:cubicBezTo>
                    <a:pt x="197398" y="-2491"/>
                    <a:pt x="232958" y="49"/>
                    <a:pt x="263438" y="8939"/>
                  </a:cubicBezTo>
                  <a:cubicBezTo>
                    <a:pt x="293918" y="17829"/>
                    <a:pt x="347258" y="59739"/>
                    <a:pt x="347258" y="59739"/>
                  </a:cubicBezTo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9833610" y="5263288"/>
            <a:ext cx="308015" cy="362653"/>
          </a:xfrm>
          <a:custGeom>
            <a:avLst/>
            <a:gdLst/>
            <a:ahLst/>
            <a:cxnLst/>
            <a:rect r="r" b="b" t="t" l="l"/>
            <a:pathLst>
              <a:path h="362653" w="308015">
                <a:moveTo>
                  <a:pt x="0" y="0"/>
                </a:moveTo>
                <a:lnTo>
                  <a:pt x="308015" y="0"/>
                </a:lnTo>
                <a:lnTo>
                  <a:pt x="308015" y="362653"/>
                </a:lnTo>
                <a:lnTo>
                  <a:pt x="0" y="36265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840657" y="708822"/>
            <a:ext cx="4574962" cy="458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07 Méthodologie du travail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-10" y="600847"/>
            <a:ext cx="6216520" cy="1054618"/>
            <a:chOff x="0" y="0"/>
            <a:chExt cx="8288693" cy="140615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288655" cy="1406144"/>
            </a:xfrm>
            <a:custGeom>
              <a:avLst/>
              <a:gdLst/>
              <a:ahLst/>
              <a:cxnLst/>
              <a:rect r="r" b="b" t="t" l="l"/>
              <a:pathLst>
                <a:path h="1406144" w="8288655">
                  <a:moveTo>
                    <a:pt x="0" y="0"/>
                  </a:moveTo>
                  <a:lnTo>
                    <a:pt x="0" y="1406144"/>
                  </a:lnTo>
                  <a:lnTo>
                    <a:pt x="7218807" y="1406144"/>
                  </a:lnTo>
                  <a:lnTo>
                    <a:pt x="8288655" y="0"/>
                  </a:lnTo>
                  <a:close/>
                </a:path>
              </a:pathLst>
            </a:custGeom>
            <a:solidFill>
              <a:srgbClr val="F5812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8407928" y="405555"/>
            <a:ext cx="9880072" cy="8991276"/>
          </a:xfrm>
          <a:custGeom>
            <a:avLst/>
            <a:gdLst/>
            <a:ahLst/>
            <a:cxnLst/>
            <a:rect r="r" b="b" t="t" l="l"/>
            <a:pathLst>
              <a:path h="8991276" w="9880072">
                <a:moveTo>
                  <a:pt x="0" y="0"/>
                </a:moveTo>
                <a:lnTo>
                  <a:pt x="9880072" y="0"/>
                </a:lnTo>
                <a:lnTo>
                  <a:pt x="9880072" y="8991277"/>
                </a:lnTo>
                <a:lnTo>
                  <a:pt x="0" y="8991277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-9885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878243" y="9358732"/>
            <a:ext cx="348920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41E1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64576" y="663016"/>
            <a:ext cx="5571382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Architecture logique et physique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18636" y="3778272"/>
            <a:ext cx="4275265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5779" indent="-175260" lvl="2">
              <a:lnSpc>
                <a:spcPts val="3219"/>
              </a:lnSpc>
              <a:buFont typeface="Arial"/>
              <a:buChar char="⚬"/>
            </a:pPr>
            <a:r>
              <a:rPr lang="en-US" b="true" sz="22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</a:t>
            </a:r>
            <a:r>
              <a:rPr lang="en-US" b="true" sz="22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angage &amp; Interface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79950" y="4248807"/>
            <a:ext cx="756405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0060" indent="-160020" lvl="2">
              <a:lnSpc>
                <a:spcPts val="2940"/>
              </a:lnSpc>
              <a:buFont typeface="Arial"/>
              <a:buChar char="⚬"/>
            </a:pPr>
            <a:r>
              <a:rPr lang="en-US" b="true" sz="21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Java  : </a:t>
            </a: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POO avancé</a:t>
            </a: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e, gestion des exceptions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26794" y="5935966"/>
            <a:ext cx="5619802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5779" indent="-175260" lvl="2">
              <a:lnSpc>
                <a:spcPts val="3219"/>
              </a:lnSpc>
              <a:buFont typeface="Arial"/>
              <a:buChar char="⚬"/>
            </a:pPr>
            <a:r>
              <a:rPr lang="en-US" b="true" sz="22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Bas</a:t>
            </a:r>
            <a:r>
              <a:rPr lang="en-US" b="true" sz="22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 de données &amp; connectivité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64576" y="1655502"/>
            <a:ext cx="8244554" cy="736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8"/>
              </a:lnSpc>
            </a:pPr>
            <a:r>
              <a:rPr lang="en-US" b="true" sz="3999" spc="87">
                <a:solidFill>
                  <a:srgbClr val="2E2E2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Technologique utilisée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79950" y="4703431"/>
            <a:ext cx="6707752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0060" indent="-160020" lvl="2">
              <a:lnSpc>
                <a:spcPts val="2940"/>
              </a:lnSpc>
              <a:buFont typeface="Arial"/>
              <a:buChar char="⚬"/>
            </a:pPr>
            <a:r>
              <a:rPr lang="en-US" b="true" sz="21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JavaFX : </a:t>
            </a: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Interfac</a:t>
            </a: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es modernes (FXML, CSS, composants riches)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33594" y="6429996"/>
            <a:ext cx="4839821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0060" indent="-160020" lvl="2">
              <a:lnSpc>
                <a:spcPts val="2940"/>
              </a:lnSpc>
              <a:buFont typeface="Arial"/>
              <a:buChar char="⚬"/>
            </a:pPr>
            <a:r>
              <a:rPr lang="en-US" b="true" sz="21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MySQL 8.0 :</a:t>
            </a: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Bas</a:t>
            </a: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 relationnelle fiable (ACID, index optimisés)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79950" y="7767306"/>
            <a:ext cx="6362331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0060" indent="-160020" lvl="2">
              <a:lnSpc>
                <a:spcPts val="2940"/>
              </a:lnSpc>
              <a:buFont typeface="Arial"/>
              <a:buChar char="⚬"/>
            </a:pPr>
            <a:r>
              <a:rPr lang="en-US" b="true" sz="21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JDBC &amp; MySQL Connector/J :</a:t>
            </a: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Communication Java ↔</a:t>
            </a: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Base de données</a:t>
            </a:r>
          </a:p>
          <a:p>
            <a:pPr algn="l">
              <a:lnSpc>
                <a:spcPts val="2940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13015383" y="6440158"/>
            <a:ext cx="665163" cy="37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b="true" sz="2200">
                <a:solidFill>
                  <a:srgbClr val="5271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JDBC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02831" y="9268130"/>
            <a:ext cx="651748" cy="651739"/>
          </a:xfrm>
          <a:custGeom>
            <a:avLst/>
            <a:gdLst/>
            <a:ahLst/>
            <a:cxnLst/>
            <a:rect r="r" b="b" t="t" l="l"/>
            <a:pathLst>
              <a:path h="651739" w="651748">
                <a:moveTo>
                  <a:pt x="0" y="0"/>
                </a:moveTo>
                <a:lnTo>
                  <a:pt x="651748" y="0"/>
                </a:lnTo>
                <a:lnTo>
                  <a:pt x="651748" y="651738"/>
                </a:lnTo>
                <a:lnTo>
                  <a:pt x="0" y="6517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0" y="600847"/>
            <a:ext cx="6216520" cy="1054618"/>
            <a:chOff x="0" y="0"/>
            <a:chExt cx="8288693" cy="14061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288655" cy="1406144"/>
            </a:xfrm>
            <a:custGeom>
              <a:avLst/>
              <a:gdLst/>
              <a:ahLst/>
              <a:cxnLst/>
              <a:rect r="r" b="b" t="t" l="l"/>
              <a:pathLst>
                <a:path h="1406144" w="8288655">
                  <a:moveTo>
                    <a:pt x="0" y="0"/>
                  </a:moveTo>
                  <a:lnTo>
                    <a:pt x="0" y="1406144"/>
                  </a:lnTo>
                  <a:lnTo>
                    <a:pt x="7218807" y="1406144"/>
                  </a:lnTo>
                  <a:lnTo>
                    <a:pt x="8288655" y="0"/>
                  </a:lnTo>
                  <a:close/>
                </a:path>
              </a:pathLst>
            </a:custGeom>
            <a:solidFill>
              <a:srgbClr val="F5812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-19" y="2832630"/>
            <a:ext cx="5591804" cy="1141228"/>
            <a:chOff x="0" y="0"/>
            <a:chExt cx="7455738" cy="152163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455789" cy="1521587"/>
            </a:xfrm>
            <a:custGeom>
              <a:avLst/>
              <a:gdLst/>
              <a:ahLst/>
              <a:cxnLst/>
              <a:rect r="r" b="b" t="t" l="l"/>
              <a:pathLst>
                <a:path h="1521587" w="7455789">
                  <a:moveTo>
                    <a:pt x="0" y="0"/>
                  </a:moveTo>
                  <a:lnTo>
                    <a:pt x="0" y="1521587"/>
                  </a:lnTo>
                  <a:lnTo>
                    <a:pt x="7020433" y="1521587"/>
                  </a:lnTo>
                  <a:lnTo>
                    <a:pt x="7455789" y="0"/>
                  </a:lnTo>
                  <a:close/>
                </a:path>
              </a:pathLst>
            </a:custGeom>
            <a:solidFill>
              <a:srgbClr val="1E4178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-26" y="-36"/>
            <a:ext cx="6473441" cy="407799"/>
          </a:xfrm>
          <a:custGeom>
            <a:avLst/>
            <a:gdLst/>
            <a:ahLst/>
            <a:cxnLst/>
            <a:rect r="r" b="b" t="t" l="l"/>
            <a:pathLst>
              <a:path h="407799" w="6473441">
                <a:moveTo>
                  <a:pt x="0" y="0"/>
                </a:moveTo>
                <a:lnTo>
                  <a:pt x="6473441" y="0"/>
                </a:lnTo>
                <a:lnTo>
                  <a:pt x="6473441" y="407799"/>
                </a:lnTo>
                <a:lnTo>
                  <a:pt x="0" y="4077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709022" y="-2154107"/>
            <a:ext cx="12317139" cy="13394150"/>
          </a:xfrm>
          <a:custGeom>
            <a:avLst/>
            <a:gdLst/>
            <a:ahLst/>
            <a:cxnLst/>
            <a:rect r="r" b="b" t="t" l="l"/>
            <a:pathLst>
              <a:path h="13394150" w="12317139">
                <a:moveTo>
                  <a:pt x="0" y="0"/>
                </a:moveTo>
                <a:lnTo>
                  <a:pt x="12317139" y="0"/>
                </a:lnTo>
                <a:lnTo>
                  <a:pt x="12317139" y="13394150"/>
                </a:lnTo>
                <a:lnTo>
                  <a:pt x="0" y="133941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5" t="0" r="-5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333500" y="5856570"/>
            <a:ext cx="83915" cy="84020"/>
            <a:chOff x="0" y="0"/>
            <a:chExt cx="111887" cy="11202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1887" cy="112014"/>
            </a:xfrm>
            <a:custGeom>
              <a:avLst/>
              <a:gdLst/>
              <a:ahLst/>
              <a:cxnLst/>
              <a:rect r="r" b="b" t="t" l="l"/>
              <a:pathLst>
                <a:path h="112014" w="111887">
                  <a:moveTo>
                    <a:pt x="111887" y="56007"/>
                  </a:moveTo>
                  <a:lnTo>
                    <a:pt x="111506" y="63373"/>
                  </a:lnTo>
                  <a:lnTo>
                    <a:pt x="109093" y="74041"/>
                  </a:lnTo>
                  <a:lnTo>
                    <a:pt x="104648" y="84074"/>
                  </a:lnTo>
                  <a:lnTo>
                    <a:pt x="98298" y="92964"/>
                  </a:lnTo>
                  <a:lnTo>
                    <a:pt x="90297" y="100457"/>
                  </a:lnTo>
                  <a:lnTo>
                    <a:pt x="80899" y="106299"/>
                  </a:lnTo>
                  <a:lnTo>
                    <a:pt x="70612" y="110236"/>
                  </a:lnTo>
                  <a:lnTo>
                    <a:pt x="59817" y="112014"/>
                  </a:lnTo>
                  <a:lnTo>
                    <a:pt x="48895" y="111633"/>
                  </a:lnTo>
                  <a:lnTo>
                    <a:pt x="38227" y="109220"/>
                  </a:lnTo>
                  <a:lnTo>
                    <a:pt x="28194" y="104775"/>
                  </a:lnTo>
                  <a:lnTo>
                    <a:pt x="19304" y="98425"/>
                  </a:lnTo>
                  <a:lnTo>
                    <a:pt x="11811" y="90424"/>
                  </a:lnTo>
                  <a:lnTo>
                    <a:pt x="5969" y="81026"/>
                  </a:lnTo>
                  <a:lnTo>
                    <a:pt x="2032" y="70612"/>
                  </a:lnTo>
                  <a:lnTo>
                    <a:pt x="0" y="59690"/>
                  </a:lnTo>
                  <a:lnTo>
                    <a:pt x="381" y="48641"/>
                  </a:lnTo>
                  <a:lnTo>
                    <a:pt x="2794" y="37973"/>
                  </a:lnTo>
                  <a:lnTo>
                    <a:pt x="7366" y="27940"/>
                  </a:lnTo>
                  <a:lnTo>
                    <a:pt x="13716" y="19050"/>
                  </a:lnTo>
                  <a:lnTo>
                    <a:pt x="21717" y="11557"/>
                  </a:lnTo>
                  <a:lnTo>
                    <a:pt x="31242" y="5715"/>
                  </a:lnTo>
                  <a:lnTo>
                    <a:pt x="41402" y="1778"/>
                  </a:lnTo>
                  <a:lnTo>
                    <a:pt x="52197" y="0"/>
                  </a:lnTo>
                  <a:lnTo>
                    <a:pt x="63119" y="381"/>
                  </a:lnTo>
                  <a:lnTo>
                    <a:pt x="73787" y="2794"/>
                  </a:lnTo>
                  <a:lnTo>
                    <a:pt x="83820" y="7239"/>
                  </a:lnTo>
                  <a:lnTo>
                    <a:pt x="92710" y="13589"/>
                  </a:lnTo>
                  <a:lnTo>
                    <a:pt x="100203" y="21590"/>
                  </a:lnTo>
                  <a:lnTo>
                    <a:pt x="106045" y="30988"/>
                  </a:lnTo>
                  <a:lnTo>
                    <a:pt x="109982" y="41275"/>
                  </a:lnTo>
                  <a:lnTo>
                    <a:pt x="111760" y="5207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333500" y="6511614"/>
            <a:ext cx="83915" cy="84020"/>
            <a:chOff x="0" y="0"/>
            <a:chExt cx="111887" cy="11202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1887" cy="112014"/>
            </a:xfrm>
            <a:custGeom>
              <a:avLst/>
              <a:gdLst/>
              <a:ahLst/>
              <a:cxnLst/>
              <a:rect r="r" b="b" t="t" l="l"/>
              <a:pathLst>
                <a:path h="112014" w="111887">
                  <a:moveTo>
                    <a:pt x="111887" y="56007"/>
                  </a:moveTo>
                  <a:lnTo>
                    <a:pt x="111506" y="63373"/>
                  </a:lnTo>
                  <a:lnTo>
                    <a:pt x="109093" y="74041"/>
                  </a:lnTo>
                  <a:lnTo>
                    <a:pt x="104648" y="84074"/>
                  </a:lnTo>
                  <a:lnTo>
                    <a:pt x="98298" y="92964"/>
                  </a:lnTo>
                  <a:lnTo>
                    <a:pt x="90297" y="100457"/>
                  </a:lnTo>
                  <a:lnTo>
                    <a:pt x="80899" y="106299"/>
                  </a:lnTo>
                  <a:lnTo>
                    <a:pt x="70612" y="110236"/>
                  </a:lnTo>
                  <a:lnTo>
                    <a:pt x="59817" y="112014"/>
                  </a:lnTo>
                  <a:lnTo>
                    <a:pt x="48895" y="111633"/>
                  </a:lnTo>
                  <a:lnTo>
                    <a:pt x="38227" y="109220"/>
                  </a:lnTo>
                  <a:lnTo>
                    <a:pt x="28194" y="104775"/>
                  </a:lnTo>
                  <a:lnTo>
                    <a:pt x="19304" y="98425"/>
                  </a:lnTo>
                  <a:lnTo>
                    <a:pt x="11811" y="90424"/>
                  </a:lnTo>
                  <a:lnTo>
                    <a:pt x="5969" y="81026"/>
                  </a:lnTo>
                  <a:lnTo>
                    <a:pt x="2032" y="70612"/>
                  </a:lnTo>
                  <a:lnTo>
                    <a:pt x="0" y="59690"/>
                  </a:lnTo>
                  <a:lnTo>
                    <a:pt x="381" y="48641"/>
                  </a:lnTo>
                  <a:lnTo>
                    <a:pt x="2794" y="37973"/>
                  </a:lnTo>
                  <a:lnTo>
                    <a:pt x="7366" y="27940"/>
                  </a:lnTo>
                  <a:lnTo>
                    <a:pt x="13716" y="19050"/>
                  </a:lnTo>
                  <a:lnTo>
                    <a:pt x="21717" y="11557"/>
                  </a:lnTo>
                  <a:lnTo>
                    <a:pt x="31242" y="5715"/>
                  </a:lnTo>
                  <a:lnTo>
                    <a:pt x="41402" y="1778"/>
                  </a:lnTo>
                  <a:lnTo>
                    <a:pt x="52197" y="0"/>
                  </a:lnTo>
                  <a:lnTo>
                    <a:pt x="63119" y="381"/>
                  </a:lnTo>
                  <a:lnTo>
                    <a:pt x="73787" y="2794"/>
                  </a:lnTo>
                  <a:lnTo>
                    <a:pt x="83820" y="7239"/>
                  </a:lnTo>
                  <a:lnTo>
                    <a:pt x="92710" y="13589"/>
                  </a:lnTo>
                  <a:lnTo>
                    <a:pt x="100203" y="21590"/>
                  </a:lnTo>
                  <a:lnTo>
                    <a:pt x="106045" y="30988"/>
                  </a:lnTo>
                  <a:lnTo>
                    <a:pt x="109982" y="41275"/>
                  </a:lnTo>
                  <a:lnTo>
                    <a:pt x="111760" y="5207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333500" y="7167696"/>
            <a:ext cx="83915" cy="83915"/>
            <a:chOff x="0" y="0"/>
            <a:chExt cx="111887" cy="11188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1887" cy="111887"/>
            </a:xfrm>
            <a:custGeom>
              <a:avLst/>
              <a:gdLst/>
              <a:ahLst/>
              <a:cxnLst/>
              <a:rect r="r" b="b" t="t" l="l"/>
              <a:pathLst>
                <a:path h="111887" w="111887">
                  <a:moveTo>
                    <a:pt x="111887" y="55880"/>
                  </a:moveTo>
                  <a:lnTo>
                    <a:pt x="111506" y="63246"/>
                  </a:lnTo>
                  <a:lnTo>
                    <a:pt x="109093" y="73914"/>
                  </a:lnTo>
                  <a:lnTo>
                    <a:pt x="104648" y="83947"/>
                  </a:lnTo>
                  <a:lnTo>
                    <a:pt x="98298" y="92837"/>
                  </a:lnTo>
                  <a:lnTo>
                    <a:pt x="90297" y="100330"/>
                  </a:lnTo>
                  <a:lnTo>
                    <a:pt x="80899" y="106172"/>
                  </a:lnTo>
                  <a:lnTo>
                    <a:pt x="70612" y="110109"/>
                  </a:lnTo>
                  <a:lnTo>
                    <a:pt x="59817" y="111887"/>
                  </a:lnTo>
                  <a:lnTo>
                    <a:pt x="48895" y="111506"/>
                  </a:lnTo>
                  <a:lnTo>
                    <a:pt x="38227" y="109093"/>
                  </a:lnTo>
                  <a:lnTo>
                    <a:pt x="28194" y="104648"/>
                  </a:lnTo>
                  <a:lnTo>
                    <a:pt x="19304" y="98298"/>
                  </a:lnTo>
                  <a:lnTo>
                    <a:pt x="11557" y="90170"/>
                  </a:lnTo>
                  <a:lnTo>
                    <a:pt x="5715" y="80772"/>
                  </a:lnTo>
                  <a:lnTo>
                    <a:pt x="1778" y="70485"/>
                  </a:lnTo>
                  <a:lnTo>
                    <a:pt x="0" y="59690"/>
                  </a:lnTo>
                  <a:lnTo>
                    <a:pt x="381" y="48641"/>
                  </a:lnTo>
                  <a:lnTo>
                    <a:pt x="2794" y="37973"/>
                  </a:lnTo>
                  <a:lnTo>
                    <a:pt x="7366" y="27940"/>
                  </a:lnTo>
                  <a:lnTo>
                    <a:pt x="13716" y="19050"/>
                  </a:lnTo>
                  <a:lnTo>
                    <a:pt x="21717" y="11557"/>
                  </a:lnTo>
                  <a:lnTo>
                    <a:pt x="31242" y="5715"/>
                  </a:lnTo>
                  <a:lnTo>
                    <a:pt x="41402" y="1778"/>
                  </a:lnTo>
                  <a:lnTo>
                    <a:pt x="52197" y="0"/>
                  </a:lnTo>
                  <a:lnTo>
                    <a:pt x="63119" y="381"/>
                  </a:lnTo>
                  <a:lnTo>
                    <a:pt x="73787" y="2794"/>
                  </a:lnTo>
                  <a:lnTo>
                    <a:pt x="83820" y="7239"/>
                  </a:lnTo>
                  <a:lnTo>
                    <a:pt x="92710" y="13589"/>
                  </a:lnTo>
                  <a:lnTo>
                    <a:pt x="100203" y="21590"/>
                  </a:lnTo>
                  <a:lnTo>
                    <a:pt x="106045" y="30988"/>
                  </a:lnTo>
                  <a:lnTo>
                    <a:pt x="109982" y="41275"/>
                  </a:lnTo>
                  <a:lnTo>
                    <a:pt x="111760" y="5207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10750863" y="8231501"/>
            <a:ext cx="67690" cy="35559"/>
          </a:xfrm>
          <a:custGeom>
            <a:avLst/>
            <a:gdLst/>
            <a:ahLst/>
            <a:cxnLst/>
            <a:rect r="r" b="b" t="t" l="l"/>
            <a:pathLst>
              <a:path h="35559" w="67690">
                <a:moveTo>
                  <a:pt x="0" y="0"/>
                </a:moveTo>
                <a:lnTo>
                  <a:pt x="67689" y="0"/>
                </a:lnTo>
                <a:lnTo>
                  <a:pt x="67689" y="35559"/>
                </a:lnTo>
                <a:lnTo>
                  <a:pt x="0" y="355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5650523" y="5768336"/>
            <a:ext cx="58165" cy="39369"/>
          </a:xfrm>
          <a:custGeom>
            <a:avLst/>
            <a:gdLst/>
            <a:ahLst/>
            <a:cxnLst/>
            <a:rect r="r" b="b" t="t" l="l"/>
            <a:pathLst>
              <a:path h="39369" w="58165">
                <a:moveTo>
                  <a:pt x="0" y="0"/>
                </a:moveTo>
                <a:lnTo>
                  <a:pt x="58165" y="0"/>
                </a:lnTo>
                <a:lnTo>
                  <a:pt x="58165" y="39369"/>
                </a:lnTo>
                <a:lnTo>
                  <a:pt x="0" y="3936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6193938" y="6931104"/>
            <a:ext cx="61086" cy="84708"/>
          </a:xfrm>
          <a:custGeom>
            <a:avLst/>
            <a:gdLst/>
            <a:ahLst/>
            <a:cxnLst/>
            <a:rect r="r" b="b" t="t" l="l"/>
            <a:pathLst>
              <a:path h="84708" w="61086">
                <a:moveTo>
                  <a:pt x="0" y="0"/>
                </a:moveTo>
                <a:lnTo>
                  <a:pt x="61086" y="0"/>
                </a:lnTo>
                <a:lnTo>
                  <a:pt x="61086" y="84708"/>
                </a:lnTo>
                <a:lnTo>
                  <a:pt x="0" y="8470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6660988" y="937033"/>
            <a:ext cx="11301259" cy="6314578"/>
          </a:xfrm>
          <a:custGeom>
            <a:avLst/>
            <a:gdLst/>
            <a:ahLst/>
            <a:cxnLst/>
            <a:rect r="r" b="b" t="t" l="l"/>
            <a:pathLst>
              <a:path h="6314578" w="11301259">
                <a:moveTo>
                  <a:pt x="0" y="0"/>
                </a:moveTo>
                <a:lnTo>
                  <a:pt x="11301259" y="0"/>
                </a:lnTo>
                <a:lnTo>
                  <a:pt x="11301259" y="6314578"/>
                </a:lnTo>
                <a:lnTo>
                  <a:pt x="0" y="631457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887768" y="9346492"/>
            <a:ext cx="321002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41E1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14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40657" y="3110055"/>
            <a:ext cx="3961333" cy="486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true">
                <a:solidFill>
                  <a:srgbClr val="EEEEE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Architecture Physique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4810039"/>
            <a:ext cx="4608777" cy="411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6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Notre architecture utilise: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56175" y="5717829"/>
            <a:ext cx="4806328" cy="1944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3"/>
              </a:lnSpc>
            </a:pPr>
            <a:r>
              <a:rPr lang="en-US" sz="216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Archit</a:t>
            </a:r>
            <a:r>
              <a:rPr lang="en-US" sz="216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ecture Client–Serveur</a:t>
            </a:r>
          </a:p>
          <a:p>
            <a:pPr algn="l">
              <a:lnSpc>
                <a:spcPts val="2583"/>
              </a:lnSpc>
            </a:pPr>
          </a:p>
          <a:p>
            <a:pPr algn="l">
              <a:lnSpc>
                <a:spcPts val="2583"/>
              </a:lnSpc>
            </a:pPr>
            <a:r>
              <a:rPr lang="en-US" sz="216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Postes clients (Réception &amp; Manager)</a:t>
            </a:r>
          </a:p>
          <a:p>
            <a:pPr algn="l">
              <a:lnSpc>
                <a:spcPts val="2583"/>
              </a:lnSpc>
            </a:pPr>
          </a:p>
          <a:p>
            <a:pPr algn="l">
              <a:lnSpc>
                <a:spcPts val="2583"/>
              </a:lnSpc>
            </a:pPr>
            <a:r>
              <a:rPr lang="en-US" sz="216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Serveur Base de Données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05597" y="833895"/>
            <a:ext cx="5825423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9"/>
              </a:lnSpc>
            </a:pPr>
            <a:r>
              <a:rPr lang="en-US" sz="3598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Architecture physique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661434" y="5490705"/>
            <a:ext cx="104051" cy="244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true">
                <a:solidFill>
                  <a:srgbClr val="000000">
                    <a:alpha val="49412"/>
                  </a:srgb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5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12731" y="8062274"/>
            <a:ext cx="15792583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Cette architecture garantit une solution sécurisée, performante et adaptée à un environnement hôtelier professionnel.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222593" y="-1989734"/>
            <a:ext cx="8637184" cy="13394150"/>
          </a:xfrm>
          <a:custGeom>
            <a:avLst/>
            <a:gdLst/>
            <a:ahLst/>
            <a:cxnLst/>
            <a:rect r="r" b="b" t="t" l="l"/>
            <a:pathLst>
              <a:path h="13394150" w="8637184">
                <a:moveTo>
                  <a:pt x="0" y="0"/>
                </a:moveTo>
                <a:lnTo>
                  <a:pt x="8637184" y="0"/>
                </a:lnTo>
                <a:lnTo>
                  <a:pt x="8637184" y="13394150"/>
                </a:lnTo>
                <a:lnTo>
                  <a:pt x="0" y="133941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8" t="0" r="-3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02831" y="9268130"/>
            <a:ext cx="651748" cy="651739"/>
          </a:xfrm>
          <a:custGeom>
            <a:avLst/>
            <a:gdLst/>
            <a:ahLst/>
            <a:cxnLst/>
            <a:rect r="r" b="b" t="t" l="l"/>
            <a:pathLst>
              <a:path h="651739" w="651748">
                <a:moveTo>
                  <a:pt x="0" y="0"/>
                </a:moveTo>
                <a:lnTo>
                  <a:pt x="651748" y="0"/>
                </a:lnTo>
                <a:lnTo>
                  <a:pt x="651748" y="651738"/>
                </a:lnTo>
                <a:lnTo>
                  <a:pt x="0" y="651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19" y="2832630"/>
            <a:ext cx="5591804" cy="1141228"/>
            <a:chOff x="0" y="0"/>
            <a:chExt cx="7455738" cy="152163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55789" cy="1521587"/>
            </a:xfrm>
            <a:custGeom>
              <a:avLst/>
              <a:gdLst/>
              <a:ahLst/>
              <a:cxnLst/>
              <a:rect r="r" b="b" t="t" l="l"/>
              <a:pathLst>
                <a:path h="1521587" w="7455789">
                  <a:moveTo>
                    <a:pt x="0" y="0"/>
                  </a:moveTo>
                  <a:lnTo>
                    <a:pt x="0" y="1521587"/>
                  </a:lnTo>
                  <a:lnTo>
                    <a:pt x="7020433" y="1521587"/>
                  </a:lnTo>
                  <a:lnTo>
                    <a:pt x="7455789" y="0"/>
                  </a:lnTo>
                  <a:close/>
                </a:path>
              </a:pathLst>
            </a:custGeom>
            <a:solidFill>
              <a:srgbClr val="1E4178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-10" y="600847"/>
            <a:ext cx="6216520" cy="1054618"/>
            <a:chOff x="0" y="0"/>
            <a:chExt cx="8288693" cy="140615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288655" cy="1406144"/>
            </a:xfrm>
            <a:custGeom>
              <a:avLst/>
              <a:gdLst/>
              <a:ahLst/>
              <a:cxnLst/>
              <a:rect r="r" b="b" t="t" l="l"/>
              <a:pathLst>
                <a:path h="1406144" w="8288655">
                  <a:moveTo>
                    <a:pt x="0" y="0"/>
                  </a:moveTo>
                  <a:lnTo>
                    <a:pt x="0" y="1406144"/>
                  </a:lnTo>
                  <a:lnTo>
                    <a:pt x="7218807" y="1406144"/>
                  </a:lnTo>
                  <a:lnTo>
                    <a:pt x="8288655" y="0"/>
                  </a:lnTo>
                  <a:close/>
                </a:path>
              </a:pathLst>
            </a:custGeom>
            <a:solidFill>
              <a:srgbClr val="F5812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-26" y="-36"/>
            <a:ext cx="6473441" cy="407799"/>
          </a:xfrm>
          <a:custGeom>
            <a:avLst/>
            <a:gdLst/>
            <a:ahLst/>
            <a:cxnLst/>
            <a:rect r="r" b="b" t="t" l="l"/>
            <a:pathLst>
              <a:path h="407799" w="6473441">
                <a:moveTo>
                  <a:pt x="0" y="0"/>
                </a:moveTo>
                <a:lnTo>
                  <a:pt x="6473441" y="0"/>
                </a:lnTo>
                <a:lnTo>
                  <a:pt x="6473441" y="407799"/>
                </a:lnTo>
                <a:lnTo>
                  <a:pt x="0" y="4077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895410" y="9716859"/>
            <a:ext cx="9392544" cy="570101"/>
          </a:xfrm>
          <a:custGeom>
            <a:avLst/>
            <a:gdLst/>
            <a:ahLst/>
            <a:cxnLst/>
            <a:rect r="r" b="b" t="t" l="l"/>
            <a:pathLst>
              <a:path h="570101" w="9392544">
                <a:moveTo>
                  <a:pt x="0" y="0"/>
                </a:moveTo>
                <a:lnTo>
                  <a:pt x="9392544" y="0"/>
                </a:lnTo>
                <a:lnTo>
                  <a:pt x="9392544" y="570101"/>
                </a:lnTo>
                <a:lnTo>
                  <a:pt x="0" y="57010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144000" y="1128155"/>
            <a:ext cx="7558344" cy="7694380"/>
          </a:xfrm>
          <a:custGeom>
            <a:avLst/>
            <a:gdLst/>
            <a:ahLst/>
            <a:cxnLst/>
            <a:rect r="r" b="b" t="t" l="l"/>
            <a:pathLst>
              <a:path h="7694380" w="7558344">
                <a:moveTo>
                  <a:pt x="0" y="0"/>
                </a:moveTo>
                <a:lnTo>
                  <a:pt x="7558344" y="0"/>
                </a:lnTo>
                <a:lnTo>
                  <a:pt x="7558344" y="7694380"/>
                </a:lnTo>
                <a:lnTo>
                  <a:pt x="0" y="76943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6037" t="-17504" r="-20046" b="-16173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68718" y="9358732"/>
            <a:ext cx="465572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41E1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15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40657" y="3110055"/>
            <a:ext cx="3761670" cy="486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true">
                <a:solidFill>
                  <a:srgbClr val="EEEEE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Architecture Logique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75614" y="6116857"/>
            <a:ext cx="1945878" cy="411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6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Vue</a:t>
            </a:r>
            <a:r>
              <a:rPr lang="en-US" sz="26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(View)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02831" y="7376080"/>
            <a:ext cx="4082653" cy="411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6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</a:t>
            </a:r>
            <a:r>
              <a:rPr lang="en-US" sz="26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ntrôleur (Controller)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56609" y="847192"/>
            <a:ext cx="5135175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8"/>
              </a:lnSpc>
            </a:pPr>
            <a:r>
              <a:rPr lang="en-US" sz="36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Architecture logique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02831" y="4945967"/>
            <a:ext cx="5413410" cy="455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Modèle (Model)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55456" y="4269181"/>
            <a:ext cx="6836877" cy="372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8"/>
              </a:lnSpc>
            </a:pPr>
            <a:r>
              <a:rPr lang="en-US" sz="21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L’app</a:t>
            </a:r>
            <a:r>
              <a:rPr lang="en-US" sz="21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lication est organisée selon le modèle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51776" y="5553637"/>
            <a:ext cx="5513680" cy="372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764" indent="-237382" lvl="1">
              <a:lnSpc>
                <a:spcPts val="3078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lang="en-US" sz="21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eprésente les entités du système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34291" y="7939807"/>
            <a:ext cx="5431165" cy="372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764" indent="-237382" lvl="1">
              <a:lnSpc>
                <a:spcPts val="3078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Gè</a:t>
            </a:r>
            <a:r>
              <a:rPr lang="en-US" sz="21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 les actions de l’utilisateur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51775" y="6680584"/>
            <a:ext cx="7273343" cy="372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764" indent="-237382" lvl="1">
              <a:lnSpc>
                <a:spcPts val="3078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-US" sz="21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nterface utilisateur développée avec JavaFX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02831" y="9268130"/>
            <a:ext cx="651748" cy="651739"/>
          </a:xfrm>
          <a:custGeom>
            <a:avLst/>
            <a:gdLst/>
            <a:ahLst/>
            <a:cxnLst/>
            <a:rect r="r" b="b" t="t" l="l"/>
            <a:pathLst>
              <a:path h="651739" w="651748">
                <a:moveTo>
                  <a:pt x="0" y="0"/>
                </a:moveTo>
                <a:lnTo>
                  <a:pt x="651748" y="0"/>
                </a:lnTo>
                <a:lnTo>
                  <a:pt x="651748" y="651738"/>
                </a:lnTo>
                <a:lnTo>
                  <a:pt x="0" y="6517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0" y="600847"/>
            <a:ext cx="6216396" cy="759343"/>
            <a:chOff x="0" y="0"/>
            <a:chExt cx="8288528" cy="10124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288528" cy="1012444"/>
            </a:xfrm>
            <a:custGeom>
              <a:avLst/>
              <a:gdLst/>
              <a:ahLst/>
              <a:cxnLst/>
              <a:rect r="r" b="b" t="t" l="l"/>
              <a:pathLst>
                <a:path h="1012444" w="8288528">
                  <a:moveTo>
                    <a:pt x="0" y="0"/>
                  </a:moveTo>
                  <a:lnTo>
                    <a:pt x="0" y="1012444"/>
                  </a:lnTo>
                  <a:lnTo>
                    <a:pt x="7218807" y="1012444"/>
                  </a:lnTo>
                  <a:lnTo>
                    <a:pt x="8288528" y="127"/>
                  </a:lnTo>
                  <a:lnTo>
                    <a:pt x="8288528" y="0"/>
                  </a:lnTo>
                  <a:close/>
                </a:path>
              </a:pathLst>
            </a:custGeom>
            <a:solidFill>
              <a:srgbClr val="F5812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-26" y="-36"/>
            <a:ext cx="6473441" cy="407799"/>
          </a:xfrm>
          <a:custGeom>
            <a:avLst/>
            <a:gdLst/>
            <a:ahLst/>
            <a:cxnLst/>
            <a:rect r="r" b="b" t="t" l="l"/>
            <a:pathLst>
              <a:path h="407799" w="6473441">
                <a:moveTo>
                  <a:pt x="0" y="0"/>
                </a:moveTo>
                <a:lnTo>
                  <a:pt x="6473441" y="0"/>
                </a:lnTo>
                <a:lnTo>
                  <a:pt x="6473441" y="407799"/>
                </a:lnTo>
                <a:lnTo>
                  <a:pt x="0" y="4077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789129" y="3191828"/>
            <a:ext cx="1167614" cy="455399"/>
          </a:xfrm>
          <a:custGeom>
            <a:avLst/>
            <a:gdLst/>
            <a:ahLst/>
            <a:cxnLst/>
            <a:rect r="r" b="b" t="t" l="l"/>
            <a:pathLst>
              <a:path h="455399" w="1167614">
                <a:moveTo>
                  <a:pt x="0" y="0"/>
                </a:moveTo>
                <a:lnTo>
                  <a:pt x="1167614" y="0"/>
                </a:lnTo>
                <a:lnTo>
                  <a:pt x="1167614" y="455399"/>
                </a:lnTo>
                <a:lnTo>
                  <a:pt x="0" y="4553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291908" y="3407706"/>
            <a:ext cx="1884275" cy="461004"/>
          </a:xfrm>
          <a:custGeom>
            <a:avLst/>
            <a:gdLst/>
            <a:ahLst/>
            <a:cxnLst/>
            <a:rect r="r" b="b" t="t" l="l"/>
            <a:pathLst>
              <a:path h="461004" w="1884275">
                <a:moveTo>
                  <a:pt x="0" y="0"/>
                </a:moveTo>
                <a:lnTo>
                  <a:pt x="1884275" y="0"/>
                </a:lnTo>
                <a:lnTo>
                  <a:pt x="1884275" y="461004"/>
                </a:lnTo>
                <a:lnTo>
                  <a:pt x="0" y="46100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4719611" y="3448888"/>
            <a:ext cx="390887" cy="399574"/>
            <a:chOff x="0" y="0"/>
            <a:chExt cx="521183" cy="5327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-48" y="-27"/>
              <a:ext cx="521185" cy="532761"/>
            </a:xfrm>
            <a:custGeom>
              <a:avLst/>
              <a:gdLst/>
              <a:ahLst/>
              <a:cxnLst/>
              <a:rect r="r" b="b" t="t" l="l"/>
              <a:pathLst>
                <a:path h="532761" w="521185">
                  <a:moveTo>
                    <a:pt x="521129" y="186844"/>
                  </a:moveTo>
                  <a:cubicBezTo>
                    <a:pt x="522399" y="355754"/>
                    <a:pt x="502079" y="398934"/>
                    <a:pt x="476679" y="430684"/>
                  </a:cubicBezTo>
                  <a:cubicBezTo>
                    <a:pt x="451279" y="463704"/>
                    <a:pt x="414449" y="492914"/>
                    <a:pt x="376349" y="509424"/>
                  </a:cubicBezTo>
                  <a:cubicBezTo>
                    <a:pt x="338249" y="527204"/>
                    <a:pt x="292529" y="534824"/>
                    <a:pt x="250619" y="532284"/>
                  </a:cubicBezTo>
                  <a:cubicBezTo>
                    <a:pt x="209979" y="529744"/>
                    <a:pt x="164259" y="515774"/>
                    <a:pt x="128699" y="494184"/>
                  </a:cubicBezTo>
                  <a:cubicBezTo>
                    <a:pt x="93139" y="473864"/>
                    <a:pt x="60119" y="439574"/>
                    <a:pt x="38529" y="404014"/>
                  </a:cubicBezTo>
                  <a:cubicBezTo>
                    <a:pt x="16939" y="368454"/>
                    <a:pt x="2969" y="324004"/>
                    <a:pt x="429" y="282094"/>
                  </a:cubicBezTo>
                  <a:cubicBezTo>
                    <a:pt x="-2111" y="241454"/>
                    <a:pt x="6779" y="194464"/>
                    <a:pt x="23289" y="156364"/>
                  </a:cubicBezTo>
                  <a:cubicBezTo>
                    <a:pt x="41069" y="119534"/>
                    <a:pt x="70279" y="81434"/>
                    <a:pt x="102029" y="56034"/>
                  </a:cubicBezTo>
                  <a:cubicBezTo>
                    <a:pt x="135049" y="30634"/>
                    <a:pt x="178229" y="11584"/>
                    <a:pt x="218869" y="3964"/>
                  </a:cubicBezTo>
                  <a:cubicBezTo>
                    <a:pt x="259509" y="-3656"/>
                    <a:pt x="306499" y="154"/>
                    <a:pt x="345869" y="11584"/>
                  </a:cubicBezTo>
                  <a:cubicBezTo>
                    <a:pt x="385239" y="24284"/>
                    <a:pt x="455089" y="77624"/>
                    <a:pt x="455089" y="77624"/>
                  </a:cubicBezTo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3963062" y="3436218"/>
            <a:ext cx="1026553" cy="433228"/>
          </a:xfrm>
          <a:custGeom>
            <a:avLst/>
            <a:gdLst/>
            <a:ahLst/>
            <a:cxnLst/>
            <a:rect r="r" b="b" t="t" l="l"/>
            <a:pathLst>
              <a:path h="433228" w="1026553">
                <a:moveTo>
                  <a:pt x="0" y="0"/>
                </a:moveTo>
                <a:lnTo>
                  <a:pt x="1026553" y="0"/>
                </a:lnTo>
                <a:lnTo>
                  <a:pt x="1026553" y="433228"/>
                </a:lnTo>
                <a:lnTo>
                  <a:pt x="0" y="43322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732182" y="3377565"/>
            <a:ext cx="1122246" cy="486728"/>
          </a:xfrm>
          <a:custGeom>
            <a:avLst/>
            <a:gdLst/>
            <a:ahLst/>
            <a:cxnLst/>
            <a:rect r="r" b="b" t="t" l="l"/>
            <a:pathLst>
              <a:path h="486728" w="1122246">
                <a:moveTo>
                  <a:pt x="0" y="0"/>
                </a:moveTo>
                <a:lnTo>
                  <a:pt x="1122246" y="0"/>
                </a:lnTo>
                <a:lnTo>
                  <a:pt x="1122246" y="486728"/>
                </a:lnTo>
                <a:lnTo>
                  <a:pt x="0" y="48672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032512" y="3410963"/>
            <a:ext cx="1731043" cy="465134"/>
          </a:xfrm>
          <a:custGeom>
            <a:avLst/>
            <a:gdLst/>
            <a:ahLst/>
            <a:cxnLst/>
            <a:rect r="r" b="b" t="t" l="l"/>
            <a:pathLst>
              <a:path h="465134" w="1731043">
                <a:moveTo>
                  <a:pt x="0" y="0"/>
                </a:moveTo>
                <a:lnTo>
                  <a:pt x="1731043" y="0"/>
                </a:lnTo>
                <a:lnTo>
                  <a:pt x="1731043" y="465134"/>
                </a:lnTo>
                <a:lnTo>
                  <a:pt x="0" y="46513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434316" y="3069389"/>
            <a:ext cx="1147370" cy="459908"/>
          </a:xfrm>
          <a:custGeom>
            <a:avLst/>
            <a:gdLst/>
            <a:ahLst/>
            <a:cxnLst/>
            <a:rect r="r" b="b" t="t" l="l"/>
            <a:pathLst>
              <a:path h="459908" w="1147370">
                <a:moveTo>
                  <a:pt x="0" y="0"/>
                </a:moveTo>
                <a:lnTo>
                  <a:pt x="1147370" y="0"/>
                </a:lnTo>
                <a:lnTo>
                  <a:pt x="1147370" y="459908"/>
                </a:lnTo>
                <a:lnTo>
                  <a:pt x="0" y="45990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155101" y="7918330"/>
            <a:ext cx="1468280" cy="454196"/>
          </a:xfrm>
          <a:custGeom>
            <a:avLst/>
            <a:gdLst/>
            <a:ahLst/>
            <a:cxnLst/>
            <a:rect r="r" b="b" t="t" l="l"/>
            <a:pathLst>
              <a:path h="454196" w="1468280">
                <a:moveTo>
                  <a:pt x="0" y="0"/>
                </a:moveTo>
                <a:lnTo>
                  <a:pt x="1468280" y="0"/>
                </a:lnTo>
                <a:lnTo>
                  <a:pt x="1468280" y="454197"/>
                </a:lnTo>
                <a:lnTo>
                  <a:pt x="0" y="454197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204860" y="7945365"/>
            <a:ext cx="818478" cy="425912"/>
          </a:xfrm>
          <a:custGeom>
            <a:avLst/>
            <a:gdLst/>
            <a:ahLst/>
            <a:cxnLst/>
            <a:rect r="r" b="b" t="t" l="l"/>
            <a:pathLst>
              <a:path h="425912" w="818478">
                <a:moveTo>
                  <a:pt x="0" y="0"/>
                </a:moveTo>
                <a:lnTo>
                  <a:pt x="818478" y="0"/>
                </a:lnTo>
                <a:lnTo>
                  <a:pt x="818478" y="425912"/>
                </a:lnTo>
                <a:lnTo>
                  <a:pt x="0" y="425912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321086" y="7920835"/>
            <a:ext cx="2348170" cy="478414"/>
          </a:xfrm>
          <a:custGeom>
            <a:avLst/>
            <a:gdLst/>
            <a:ahLst/>
            <a:cxnLst/>
            <a:rect r="r" b="b" t="t" l="l"/>
            <a:pathLst>
              <a:path h="478414" w="2348170">
                <a:moveTo>
                  <a:pt x="0" y="0"/>
                </a:moveTo>
                <a:lnTo>
                  <a:pt x="2348170" y="0"/>
                </a:lnTo>
                <a:lnTo>
                  <a:pt x="2348170" y="478414"/>
                </a:lnTo>
                <a:lnTo>
                  <a:pt x="0" y="478414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9260205" y="7937659"/>
            <a:ext cx="521440" cy="411238"/>
          </a:xfrm>
          <a:custGeom>
            <a:avLst/>
            <a:gdLst/>
            <a:ahLst/>
            <a:cxnLst/>
            <a:rect r="r" b="b" t="t" l="l"/>
            <a:pathLst>
              <a:path h="411238" w="521440">
                <a:moveTo>
                  <a:pt x="0" y="0"/>
                </a:moveTo>
                <a:lnTo>
                  <a:pt x="521441" y="0"/>
                </a:lnTo>
                <a:lnTo>
                  <a:pt x="521441" y="411238"/>
                </a:lnTo>
                <a:lnTo>
                  <a:pt x="0" y="411238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269730" y="7931529"/>
            <a:ext cx="555904" cy="414042"/>
          </a:xfrm>
          <a:custGeom>
            <a:avLst/>
            <a:gdLst/>
            <a:ahLst/>
            <a:cxnLst/>
            <a:rect r="r" b="b" t="t" l="l"/>
            <a:pathLst>
              <a:path h="414042" w="555904">
                <a:moveTo>
                  <a:pt x="0" y="0"/>
                </a:moveTo>
                <a:lnTo>
                  <a:pt x="555904" y="0"/>
                </a:lnTo>
                <a:lnTo>
                  <a:pt x="555904" y="414042"/>
                </a:lnTo>
                <a:lnTo>
                  <a:pt x="0" y="414042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9271311" y="7925638"/>
            <a:ext cx="390849" cy="399574"/>
            <a:chOff x="0" y="0"/>
            <a:chExt cx="521132" cy="53276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-48" y="-27"/>
              <a:ext cx="521129" cy="532761"/>
            </a:xfrm>
            <a:custGeom>
              <a:avLst/>
              <a:gdLst/>
              <a:ahLst/>
              <a:cxnLst/>
              <a:rect r="r" b="b" t="t" l="l"/>
              <a:pathLst>
                <a:path h="532761" w="521129">
                  <a:moveTo>
                    <a:pt x="521129" y="186844"/>
                  </a:moveTo>
                  <a:cubicBezTo>
                    <a:pt x="521129" y="355754"/>
                    <a:pt x="502079" y="398934"/>
                    <a:pt x="476679" y="430684"/>
                  </a:cubicBezTo>
                  <a:cubicBezTo>
                    <a:pt x="451279" y="463704"/>
                    <a:pt x="413179" y="492914"/>
                    <a:pt x="376349" y="509424"/>
                  </a:cubicBezTo>
                  <a:cubicBezTo>
                    <a:pt x="338249" y="527204"/>
                    <a:pt x="291259" y="534824"/>
                    <a:pt x="250619" y="532284"/>
                  </a:cubicBezTo>
                  <a:cubicBezTo>
                    <a:pt x="208709" y="529744"/>
                    <a:pt x="164259" y="515774"/>
                    <a:pt x="128699" y="495454"/>
                  </a:cubicBezTo>
                  <a:cubicBezTo>
                    <a:pt x="93139" y="473864"/>
                    <a:pt x="60119" y="439574"/>
                    <a:pt x="38529" y="404014"/>
                  </a:cubicBezTo>
                  <a:cubicBezTo>
                    <a:pt x="16939" y="369724"/>
                    <a:pt x="2969" y="324004"/>
                    <a:pt x="429" y="282094"/>
                  </a:cubicBezTo>
                  <a:cubicBezTo>
                    <a:pt x="-2111" y="241454"/>
                    <a:pt x="6779" y="194464"/>
                    <a:pt x="23289" y="157634"/>
                  </a:cubicBezTo>
                  <a:cubicBezTo>
                    <a:pt x="39799" y="119534"/>
                    <a:pt x="70279" y="82704"/>
                    <a:pt x="102029" y="56034"/>
                  </a:cubicBezTo>
                  <a:cubicBezTo>
                    <a:pt x="135049" y="30634"/>
                    <a:pt x="178229" y="11584"/>
                    <a:pt x="218869" y="3964"/>
                  </a:cubicBezTo>
                  <a:cubicBezTo>
                    <a:pt x="259509" y="-3656"/>
                    <a:pt x="306499" y="154"/>
                    <a:pt x="345869" y="11584"/>
                  </a:cubicBezTo>
                  <a:cubicBezTo>
                    <a:pt x="385239" y="24284"/>
                    <a:pt x="455089" y="77624"/>
                    <a:pt x="455089" y="77624"/>
                  </a:cubicBezTo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15235960" y="7930335"/>
            <a:ext cx="691132" cy="424433"/>
          </a:xfrm>
          <a:custGeom>
            <a:avLst/>
            <a:gdLst/>
            <a:ahLst/>
            <a:cxnLst/>
            <a:rect r="r" b="b" t="t" l="l"/>
            <a:pathLst>
              <a:path h="424433" w="691132">
                <a:moveTo>
                  <a:pt x="0" y="0"/>
                </a:moveTo>
                <a:lnTo>
                  <a:pt x="691131" y="0"/>
                </a:lnTo>
                <a:lnTo>
                  <a:pt x="691131" y="424433"/>
                </a:lnTo>
                <a:lnTo>
                  <a:pt x="0" y="424433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2730120" y="7928506"/>
            <a:ext cx="1178184" cy="440191"/>
          </a:xfrm>
          <a:custGeom>
            <a:avLst/>
            <a:gdLst/>
            <a:ahLst/>
            <a:cxnLst/>
            <a:rect r="r" b="b" t="t" l="l"/>
            <a:pathLst>
              <a:path h="440191" w="1178184">
                <a:moveTo>
                  <a:pt x="0" y="0"/>
                </a:moveTo>
                <a:lnTo>
                  <a:pt x="1178184" y="0"/>
                </a:lnTo>
                <a:lnTo>
                  <a:pt x="1178184" y="440191"/>
                </a:lnTo>
                <a:lnTo>
                  <a:pt x="0" y="440191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2763205" y="7917532"/>
            <a:ext cx="1879203" cy="466465"/>
          </a:xfrm>
          <a:custGeom>
            <a:avLst/>
            <a:gdLst/>
            <a:ahLst/>
            <a:cxnLst/>
            <a:rect r="r" b="b" t="t" l="l"/>
            <a:pathLst>
              <a:path h="466465" w="1879203">
                <a:moveTo>
                  <a:pt x="0" y="0"/>
                </a:moveTo>
                <a:lnTo>
                  <a:pt x="1879204" y="0"/>
                </a:lnTo>
                <a:lnTo>
                  <a:pt x="1879204" y="466466"/>
                </a:lnTo>
                <a:lnTo>
                  <a:pt x="0" y="466466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4012601" y="7911491"/>
            <a:ext cx="1800772" cy="469502"/>
          </a:xfrm>
          <a:custGeom>
            <a:avLst/>
            <a:gdLst/>
            <a:ahLst/>
            <a:cxnLst/>
            <a:rect r="r" b="b" t="t" l="l"/>
            <a:pathLst>
              <a:path h="469502" w="1800772">
                <a:moveTo>
                  <a:pt x="0" y="0"/>
                </a:moveTo>
                <a:lnTo>
                  <a:pt x="1800772" y="0"/>
                </a:lnTo>
                <a:lnTo>
                  <a:pt x="1800772" y="469502"/>
                </a:lnTo>
                <a:lnTo>
                  <a:pt x="0" y="469502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5440389" y="7923847"/>
            <a:ext cx="400852" cy="400050"/>
          </a:xfrm>
          <a:custGeom>
            <a:avLst/>
            <a:gdLst/>
            <a:ahLst/>
            <a:cxnLst/>
            <a:rect r="r" b="b" t="t" l="l"/>
            <a:pathLst>
              <a:path h="400050" w="400852">
                <a:moveTo>
                  <a:pt x="0" y="0"/>
                </a:moveTo>
                <a:lnTo>
                  <a:pt x="400852" y="0"/>
                </a:lnTo>
                <a:lnTo>
                  <a:pt x="400852" y="400050"/>
                </a:lnTo>
                <a:lnTo>
                  <a:pt x="0" y="400050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14779943" y="3825897"/>
            <a:ext cx="232410" cy="31728"/>
            <a:chOff x="0" y="0"/>
            <a:chExt cx="309880" cy="4230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-8"/>
              <a:ext cx="309880" cy="42299"/>
            </a:xfrm>
            <a:custGeom>
              <a:avLst/>
              <a:gdLst/>
              <a:ahLst/>
              <a:cxnLst/>
              <a:rect r="r" b="b" t="t" l="l"/>
              <a:pathLst>
                <a:path h="42299" w="309880">
                  <a:moveTo>
                    <a:pt x="295910" y="29599"/>
                  </a:moveTo>
                  <a:cubicBezTo>
                    <a:pt x="2540" y="38489"/>
                    <a:pt x="0" y="32139"/>
                    <a:pt x="0" y="27059"/>
                  </a:cubicBezTo>
                  <a:cubicBezTo>
                    <a:pt x="0" y="23249"/>
                    <a:pt x="6350" y="15629"/>
                    <a:pt x="10160" y="14359"/>
                  </a:cubicBezTo>
                  <a:cubicBezTo>
                    <a:pt x="15240" y="14359"/>
                    <a:pt x="26670" y="21979"/>
                    <a:pt x="26670" y="25789"/>
                  </a:cubicBezTo>
                  <a:cubicBezTo>
                    <a:pt x="27940" y="30869"/>
                    <a:pt x="20320" y="41029"/>
                    <a:pt x="15240" y="42299"/>
                  </a:cubicBezTo>
                  <a:cubicBezTo>
                    <a:pt x="11430" y="42299"/>
                    <a:pt x="2540" y="37219"/>
                    <a:pt x="1270" y="33409"/>
                  </a:cubicBezTo>
                  <a:cubicBezTo>
                    <a:pt x="0" y="28329"/>
                    <a:pt x="2540" y="20709"/>
                    <a:pt x="8890" y="15629"/>
                  </a:cubicBezTo>
                  <a:cubicBezTo>
                    <a:pt x="31750" y="-881"/>
                    <a:pt x="156210" y="2929"/>
                    <a:pt x="209550" y="1659"/>
                  </a:cubicBezTo>
                  <a:cubicBezTo>
                    <a:pt x="246380" y="1659"/>
                    <a:pt x="285750" y="-3421"/>
                    <a:pt x="299720" y="4199"/>
                  </a:cubicBezTo>
                  <a:cubicBezTo>
                    <a:pt x="306070" y="6739"/>
                    <a:pt x="309880" y="13089"/>
                    <a:pt x="309880" y="18169"/>
                  </a:cubicBezTo>
                  <a:cubicBezTo>
                    <a:pt x="308610" y="21979"/>
                    <a:pt x="295910" y="29599"/>
                    <a:pt x="295910" y="29599"/>
                  </a:cubicBezTo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28" id="28"/>
          <p:cNvSpPr/>
          <p:nvPr/>
        </p:nvSpPr>
        <p:spPr>
          <a:xfrm flipH="false" flipV="false" rot="0">
            <a:off x="10050542" y="3550920"/>
            <a:ext cx="355818" cy="318135"/>
          </a:xfrm>
          <a:custGeom>
            <a:avLst/>
            <a:gdLst/>
            <a:ahLst/>
            <a:cxnLst/>
            <a:rect r="r" b="b" t="t" l="l"/>
            <a:pathLst>
              <a:path h="318135" w="355818">
                <a:moveTo>
                  <a:pt x="0" y="0"/>
                </a:moveTo>
                <a:lnTo>
                  <a:pt x="355818" y="0"/>
                </a:lnTo>
                <a:lnTo>
                  <a:pt x="355818" y="318135"/>
                </a:lnTo>
                <a:lnTo>
                  <a:pt x="0" y="318135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9781978" y="3782275"/>
            <a:ext cx="356432" cy="1085001"/>
          </a:xfrm>
          <a:custGeom>
            <a:avLst/>
            <a:gdLst/>
            <a:ahLst/>
            <a:cxnLst/>
            <a:rect r="r" b="b" t="t" l="l"/>
            <a:pathLst>
              <a:path h="1085001" w="356432">
                <a:moveTo>
                  <a:pt x="0" y="0"/>
                </a:moveTo>
                <a:lnTo>
                  <a:pt x="356432" y="0"/>
                </a:lnTo>
                <a:lnTo>
                  <a:pt x="356432" y="1085001"/>
                </a:lnTo>
                <a:lnTo>
                  <a:pt x="0" y="1085001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9809403" y="3788818"/>
            <a:ext cx="342122" cy="1020591"/>
          </a:xfrm>
          <a:custGeom>
            <a:avLst/>
            <a:gdLst/>
            <a:ahLst/>
            <a:cxnLst/>
            <a:rect r="r" b="b" t="t" l="l"/>
            <a:pathLst>
              <a:path h="1020591" w="342122">
                <a:moveTo>
                  <a:pt x="0" y="0"/>
                </a:moveTo>
                <a:lnTo>
                  <a:pt x="342122" y="0"/>
                </a:lnTo>
                <a:lnTo>
                  <a:pt x="342122" y="1020592"/>
                </a:lnTo>
                <a:lnTo>
                  <a:pt x="0" y="1020592"/>
                </a:lnTo>
                <a:lnTo>
                  <a:pt x="0" y="0"/>
                </a:lnTo>
                <a:close/>
              </a:path>
            </a:pathLst>
          </a:custGeom>
          <a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9825602" y="7065407"/>
            <a:ext cx="345689" cy="978602"/>
          </a:xfrm>
          <a:custGeom>
            <a:avLst/>
            <a:gdLst/>
            <a:ahLst/>
            <a:cxnLst/>
            <a:rect r="r" b="b" t="t" l="l"/>
            <a:pathLst>
              <a:path h="978602" w="345689">
                <a:moveTo>
                  <a:pt x="0" y="0"/>
                </a:moveTo>
                <a:lnTo>
                  <a:pt x="345688" y="0"/>
                </a:lnTo>
                <a:lnTo>
                  <a:pt x="345688" y="978601"/>
                </a:lnTo>
                <a:lnTo>
                  <a:pt x="0" y="978601"/>
                </a:lnTo>
                <a:lnTo>
                  <a:pt x="0" y="0"/>
                </a:lnTo>
                <a:close/>
              </a:path>
            </a:pathLst>
          </a:custGeom>
          <a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9839688" y="4785331"/>
            <a:ext cx="323487" cy="548670"/>
          </a:xfrm>
          <a:custGeom>
            <a:avLst/>
            <a:gdLst/>
            <a:ahLst/>
            <a:cxnLst/>
            <a:rect r="r" b="b" t="t" l="l"/>
            <a:pathLst>
              <a:path h="548670" w="323487">
                <a:moveTo>
                  <a:pt x="0" y="0"/>
                </a:moveTo>
                <a:lnTo>
                  <a:pt x="323487" y="0"/>
                </a:lnTo>
                <a:lnTo>
                  <a:pt x="323487" y="548670"/>
                </a:lnTo>
                <a:lnTo>
                  <a:pt x="0" y="548670"/>
                </a:lnTo>
                <a:lnTo>
                  <a:pt x="0" y="0"/>
                </a:lnTo>
                <a:close/>
              </a:path>
            </a:pathLst>
          </a:custGeom>
          <a:blipFill>
            <a:blip r:embed="rId46"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9163050" y="4161800"/>
            <a:ext cx="893445" cy="1658928"/>
          </a:xfrm>
          <a:custGeom>
            <a:avLst/>
            <a:gdLst/>
            <a:ahLst/>
            <a:cxnLst/>
            <a:rect r="r" b="b" t="t" l="l"/>
            <a:pathLst>
              <a:path h="1658928" w="893445">
                <a:moveTo>
                  <a:pt x="0" y="0"/>
                </a:moveTo>
                <a:lnTo>
                  <a:pt x="893445" y="0"/>
                </a:lnTo>
                <a:lnTo>
                  <a:pt x="893445" y="1658928"/>
                </a:lnTo>
                <a:lnTo>
                  <a:pt x="0" y="1658928"/>
                </a:lnTo>
                <a:lnTo>
                  <a:pt x="0" y="0"/>
                </a:lnTo>
                <a:close/>
              </a:path>
            </a:pathLst>
          </a:custGeom>
          <a:blipFill>
            <a:blip r:embed="rId48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9841773" y="5184419"/>
            <a:ext cx="297590" cy="304952"/>
            <a:chOff x="0" y="0"/>
            <a:chExt cx="396786" cy="40660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-40" y="-49"/>
              <a:ext cx="396788" cy="406609"/>
            </a:xfrm>
            <a:custGeom>
              <a:avLst/>
              <a:gdLst/>
              <a:ahLst/>
              <a:cxnLst/>
              <a:rect r="r" b="b" t="t" l="l"/>
              <a:pathLst>
                <a:path h="406609" w="396788">
                  <a:moveTo>
                    <a:pt x="396788" y="142289"/>
                  </a:moveTo>
                  <a:cubicBezTo>
                    <a:pt x="396788" y="270559"/>
                    <a:pt x="382818" y="303579"/>
                    <a:pt x="362498" y="327709"/>
                  </a:cubicBezTo>
                  <a:cubicBezTo>
                    <a:pt x="343448" y="353109"/>
                    <a:pt x="315508" y="375969"/>
                    <a:pt x="286298" y="388669"/>
                  </a:cubicBezTo>
                  <a:cubicBezTo>
                    <a:pt x="257088" y="401369"/>
                    <a:pt x="221528" y="407719"/>
                    <a:pt x="191048" y="406449"/>
                  </a:cubicBezTo>
                  <a:cubicBezTo>
                    <a:pt x="159298" y="403909"/>
                    <a:pt x="125008" y="393749"/>
                    <a:pt x="98338" y="377239"/>
                  </a:cubicBezTo>
                  <a:cubicBezTo>
                    <a:pt x="70398" y="360729"/>
                    <a:pt x="44998" y="335329"/>
                    <a:pt x="28488" y="308659"/>
                  </a:cubicBezTo>
                  <a:cubicBezTo>
                    <a:pt x="13248" y="280719"/>
                    <a:pt x="1818" y="246429"/>
                    <a:pt x="548" y="214679"/>
                  </a:cubicBezTo>
                  <a:cubicBezTo>
                    <a:pt x="-1992" y="184199"/>
                    <a:pt x="4358" y="148639"/>
                    <a:pt x="18328" y="119429"/>
                  </a:cubicBezTo>
                  <a:cubicBezTo>
                    <a:pt x="31028" y="91489"/>
                    <a:pt x="52618" y="62279"/>
                    <a:pt x="78018" y="43229"/>
                  </a:cubicBezTo>
                  <a:cubicBezTo>
                    <a:pt x="102148" y="24179"/>
                    <a:pt x="135168" y="8939"/>
                    <a:pt x="166918" y="2589"/>
                  </a:cubicBezTo>
                  <a:cubicBezTo>
                    <a:pt x="197398" y="-2491"/>
                    <a:pt x="232958" y="49"/>
                    <a:pt x="263438" y="8939"/>
                  </a:cubicBezTo>
                  <a:cubicBezTo>
                    <a:pt x="293918" y="17829"/>
                    <a:pt x="347258" y="59739"/>
                    <a:pt x="347258" y="59739"/>
                  </a:cubicBezTo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36" id="36"/>
          <p:cNvSpPr/>
          <p:nvPr/>
        </p:nvSpPr>
        <p:spPr>
          <a:xfrm flipH="false" flipV="false" rot="0">
            <a:off x="9833610" y="5263288"/>
            <a:ext cx="308015" cy="362653"/>
          </a:xfrm>
          <a:custGeom>
            <a:avLst/>
            <a:gdLst/>
            <a:ahLst/>
            <a:cxnLst/>
            <a:rect r="r" b="b" t="t" l="l"/>
            <a:pathLst>
              <a:path h="362653" w="308015">
                <a:moveTo>
                  <a:pt x="0" y="0"/>
                </a:moveTo>
                <a:lnTo>
                  <a:pt x="308015" y="0"/>
                </a:lnTo>
                <a:lnTo>
                  <a:pt x="308015" y="362653"/>
                </a:lnTo>
                <a:lnTo>
                  <a:pt x="0" y="362653"/>
                </a:lnTo>
                <a:lnTo>
                  <a:pt x="0" y="0"/>
                </a:lnTo>
                <a:close/>
              </a:path>
            </a:pathLst>
          </a:custGeom>
          <a:blipFill>
            <a:blip r:embed="rId50">
              <a:extLst>
                <a:ext uri="{96DAC541-7B7A-43D3-8B79-37D633B846F1}">
                  <asvg:svgBlip xmlns:asvg="http://schemas.microsoft.com/office/drawing/2016/SVG/main" r:embed="rId5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906818" y="9346492"/>
            <a:ext cx="286179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41E1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16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301752" y="661445"/>
            <a:ext cx="5415620" cy="54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sz="29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Méthodologie adoptée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589329" y="1314498"/>
            <a:ext cx="4072831" cy="2511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199"/>
              </a:lnSpc>
            </a:pPr>
            <a:r>
              <a:rPr lang="en-US" b="true" sz="7998" spc="174">
                <a:solidFill>
                  <a:srgbClr val="4FC4A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SCRUM</a:t>
            </a:r>
          </a:p>
          <a:p>
            <a:pPr algn="r">
              <a:lnSpc>
                <a:spcPts val="6998"/>
              </a:lnSpc>
            </a:pPr>
          </a:p>
        </p:txBody>
      </p:sp>
      <p:sp>
        <p:nvSpPr>
          <p:cNvPr name="Freeform 40" id="40"/>
          <p:cNvSpPr/>
          <p:nvPr/>
        </p:nvSpPr>
        <p:spPr>
          <a:xfrm flipH="false" flipV="false" rot="0">
            <a:off x="11213068" y="-1989734"/>
            <a:ext cx="8637184" cy="13394150"/>
          </a:xfrm>
          <a:custGeom>
            <a:avLst/>
            <a:gdLst/>
            <a:ahLst/>
            <a:cxnLst/>
            <a:rect r="r" b="b" t="t" l="l"/>
            <a:pathLst>
              <a:path h="13394150" w="8637184">
                <a:moveTo>
                  <a:pt x="0" y="0"/>
                </a:moveTo>
                <a:lnTo>
                  <a:pt x="8637184" y="0"/>
                </a:lnTo>
                <a:lnTo>
                  <a:pt x="8637184" y="13394150"/>
                </a:lnTo>
                <a:lnTo>
                  <a:pt x="0" y="13394150"/>
                </a:lnTo>
                <a:lnTo>
                  <a:pt x="0" y="0"/>
                </a:lnTo>
                <a:close/>
              </a:path>
            </a:pathLst>
          </a:custGeom>
          <a:blipFill>
            <a:blip r:embed="rId52">
              <a:extLst>
                <a:ext uri="{96DAC541-7B7A-43D3-8B79-37D633B846F1}">
                  <asvg:svgBlip xmlns:asvg="http://schemas.microsoft.com/office/drawing/2016/SVG/main" r:embed="rId53"/>
                </a:ext>
              </a:extLst>
            </a:blip>
            <a:stretch>
              <a:fillRect l="-38" t="0" r="-38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8895410" y="9716859"/>
            <a:ext cx="9392544" cy="570101"/>
          </a:xfrm>
          <a:custGeom>
            <a:avLst/>
            <a:gdLst/>
            <a:ahLst/>
            <a:cxnLst/>
            <a:rect r="r" b="b" t="t" l="l"/>
            <a:pathLst>
              <a:path h="570101" w="9392544">
                <a:moveTo>
                  <a:pt x="0" y="0"/>
                </a:moveTo>
                <a:lnTo>
                  <a:pt x="9392544" y="0"/>
                </a:lnTo>
                <a:lnTo>
                  <a:pt x="9392544" y="570101"/>
                </a:lnTo>
                <a:lnTo>
                  <a:pt x="0" y="570101"/>
                </a:lnTo>
                <a:lnTo>
                  <a:pt x="0" y="0"/>
                </a:lnTo>
                <a:close/>
              </a:path>
            </a:pathLst>
          </a:custGeom>
          <a:blipFill>
            <a:blip r:embed="rId54">
              <a:extLst>
                <a:ext uri="{96DAC541-7B7A-43D3-8B79-37D633B846F1}">
                  <asvg:svgBlip xmlns:asvg="http://schemas.microsoft.com/office/drawing/2016/SVG/main" r:embed="rId5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668734" y="3491197"/>
            <a:ext cx="6779816" cy="3216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Objectif de la Méthodologie: 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Assurer une livraison progressive du projet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Favoriser la flexibilité face aux changements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Garantir une qualité continue grâce aux tests réguliers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Encourager la collaboration entre les membres de l’équipe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321086" y="3398118"/>
            <a:ext cx="6780028" cy="2816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Méthodologie Adoptée : Scrum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  <a:p>
            <a:pPr algn="l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Scrum est une méthode Agile basée sur :</a:t>
            </a:r>
          </a:p>
          <a:p>
            <a:pPr algn="l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Des itérations courtes (Sprints)</a:t>
            </a:r>
          </a:p>
          <a:p>
            <a:pPr algn="l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Une priorisation des besoins par valeur métier</a:t>
            </a:r>
          </a:p>
          <a:p>
            <a:pPr algn="l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Une amélioration continue du produit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933121" y="-1901047"/>
            <a:ext cx="12692605" cy="13967279"/>
          </a:xfrm>
          <a:custGeom>
            <a:avLst/>
            <a:gdLst/>
            <a:ahLst/>
            <a:cxnLst/>
            <a:rect r="r" b="b" t="t" l="l"/>
            <a:pathLst>
              <a:path h="13967279" w="12692605">
                <a:moveTo>
                  <a:pt x="0" y="0"/>
                </a:moveTo>
                <a:lnTo>
                  <a:pt x="12692605" y="0"/>
                </a:lnTo>
                <a:lnTo>
                  <a:pt x="12692605" y="13967279"/>
                </a:lnTo>
                <a:lnTo>
                  <a:pt x="0" y="139672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3" t="0" r="-33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473939" y="600847"/>
            <a:ext cx="6814052" cy="759343"/>
            <a:chOff x="0" y="0"/>
            <a:chExt cx="9085402" cy="10124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085453" cy="1012444"/>
            </a:xfrm>
            <a:custGeom>
              <a:avLst/>
              <a:gdLst/>
              <a:ahLst/>
              <a:cxnLst/>
              <a:rect r="r" b="b" t="t" l="l"/>
              <a:pathLst>
                <a:path h="1012444" w="9085453">
                  <a:moveTo>
                    <a:pt x="516509" y="0"/>
                  </a:moveTo>
                  <a:lnTo>
                    <a:pt x="0" y="1012444"/>
                  </a:lnTo>
                  <a:lnTo>
                    <a:pt x="9085453" y="1012444"/>
                  </a:lnTo>
                  <a:lnTo>
                    <a:pt x="9085453" y="0"/>
                  </a:lnTo>
                  <a:close/>
                </a:path>
              </a:pathLst>
            </a:custGeom>
            <a:solidFill>
              <a:srgbClr val="F5812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2094721" y="40"/>
            <a:ext cx="6193280" cy="421006"/>
          </a:xfrm>
          <a:custGeom>
            <a:avLst/>
            <a:gdLst/>
            <a:ahLst/>
            <a:cxnLst/>
            <a:rect r="r" b="b" t="t" l="l"/>
            <a:pathLst>
              <a:path h="421006" w="6193280">
                <a:moveTo>
                  <a:pt x="0" y="0"/>
                </a:moveTo>
                <a:lnTo>
                  <a:pt x="6193280" y="0"/>
                </a:lnTo>
                <a:lnTo>
                  <a:pt x="6193280" y="421006"/>
                </a:lnTo>
                <a:lnTo>
                  <a:pt x="0" y="4210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9" y="2832630"/>
            <a:ext cx="5591804" cy="1141228"/>
            <a:chOff x="0" y="0"/>
            <a:chExt cx="7455738" cy="15216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55789" cy="1521587"/>
            </a:xfrm>
            <a:custGeom>
              <a:avLst/>
              <a:gdLst/>
              <a:ahLst/>
              <a:cxnLst/>
              <a:rect r="r" b="b" t="t" l="l"/>
              <a:pathLst>
                <a:path h="1521587" w="7455789">
                  <a:moveTo>
                    <a:pt x="0" y="0"/>
                  </a:moveTo>
                  <a:lnTo>
                    <a:pt x="0" y="1521587"/>
                  </a:lnTo>
                  <a:lnTo>
                    <a:pt x="7020433" y="1521587"/>
                  </a:lnTo>
                  <a:lnTo>
                    <a:pt x="7455789" y="0"/>
                  </a:lnTo>
                  <a:close/>
                </a:path>
              </a:pathLst>
            </a:custGeom>
            <a:solidFill>
              <a:srgbClr val="1E4178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7053274" y="9131589"/>
            <a:ext cx="651739" cy="651739"/>
          </a:xfrm>
          <a:custGeom>
            <a:avLst/>
            <a:gdLst/>
            <a:ahLst/>
            <a:cxnLst/>
            <a:rect r="r" b="b" t="t" l="l"/>
            <a:pathLst>
              <a:path h="651739" w="651739">
                <a:moveTo>
                  <a:pt x="0" y="0"/>
                </a:moveTo>
                <a:lnTo>
                  <a:pt x="651739" y="0"/>
                </a:lnTo>
                <a:lnTo>
                  <a:pt x="651739" y="651739"/>
                </a:lnTo>
                <a:lnTo>
                  <a:pt x="0" y="6517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182218" y="2832630"/>
            <a:ext cx="11825007" cy="4922928"/>
          </a:xfrm>
          <a:custGeom>
            <a:avLst/>
            <a:gdLst/>
            <a:ahLst/>
            <a:cxnLst/>
            <a:rect r="r" b="b" t="t" l="l"/>
            <a:pathLst>
              <a:path h="4922928" w="11825007">
                <a:moveTo>
                  <a:pt x="0" y="0"/>
                </a:moveTo>
                <a:lnTo>
                  <a:pt x="11825006" y="0"/>
                </a:lnTo>
                <a:lnTo>
                  <a:pt x="11825006" y="4922928"/>
                </a:lnTo>
                <a:lnTo>
                  <a:pt x="0" y="492292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244184" y="9209961"/>
            <a:ext cx="345215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41E1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18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773806" y="704059"/>
            <a:ext cx="4574962" cy="450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Méthodologie adoptée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73081" y="3052420"/>
            <a:ext cx="3124972" cy="573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EEEEE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Sprint Backlog 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02831" y="9268130"/>
            <a:ext cx="651748" cy="651739"/>
          </a:xfrm>
          <a:custGeom>
            <a:avLst/>
            <a:gdLst/>
            <a:ahLst/>
            <a:cxnLst/>
            <a:rect r="r" b="b" t="t" l="l"/>
            <a:pathLst>
              <a:path h="651739" w="651748">
                <a:moveTo>
                  <a:pt x="0" y="0"/>
                </a:moveTo>
                <a:lnTo>
                  <a:pt x="651748" y="0"/>
                </a:lnTo>
                <a:lnTo>
                  <a:pt x="651748" y="651738"/>
                </a:lnTo>
                <a:lnTo>
                  <a:pt x="0" y="6517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0" y="600847"/>
            <a:ext cx="6216396" cy="759343"/>
            <a:chOff x="0" y="0"/>
            <a:chExt cx="8288528" cy="10124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288528" cy="1012444"/>
            </a:xfrm>
            <a:custGeom>
              <a:avLst/>
              <a:gdLst/>
              <a:ahLst/>
              <a:cxnLst/>
              <a:rect r="r" b="b" t="t" l="l"/>
              <a:pathLst>
                <a:path h="1012444" w="8288528">
                  <a:moveTo>
                    <a:pt x="0" y="0"/>
                  </a:moveTo>
                  <a:lnTo>
                    <a:pt x="0" y="1012444"/>
                  </a:lnTo>
                  <a:lnTo>
                    <a:pt x="7218807" y="1012444"/>
                  </a:lnTo>
                  <a:lnTo>
                    <a:pt x="8288528" y="127"/>
                  </a:lnTo>
                  <a:lnTo>
                    <a:pt x="8288528" y="0"/>
                  </a:lnTo>
                  <a:close/>
                </a:path>
              </a:pathLst>
            </a:custGeom>
            <a:solidFill>
              <a:srgbClr val="F5812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-26" y="-36"/>
            <a:ext cx="6473441" cy="407799"/>
          </a:xfrm>
          <a:custGeom>
            <a:avLst/>
            <a:gdLst/>
            <a:ahLst/>
            <a:cxnLst/>
            <a:rect r="r" b="b" t="t" l="l"/>
            <a:pathLst>
              <a:path h="407799" w="6473441">
                <a:moveTo>
                  <a:pt x="0" y="0"/>
                </a:moveTo>
                <a:lnTo>
                  <a:pt x="6473441" y="0"/>
                </a:lnTo>
                <a:lnTo>
                  <a:pt x="6473441" y="407799"/>
                </a:lnTo>
                <a:lnTo>
                  <a:pt x="0" y="4077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05394" y="4655239"/>
            <a:ext cx="5188201" cy="1058856"/>
            <a:chOff x="0" y="0"/>
            <a:chExt cx="6917601" cy="141180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917563" cy="1411859"/>
            </a:xfrm>
            <a:custGeom>
              <a:avLst/>
              <a:gdLst/>
              <a:ahLst/>
              <a:cxnLst/>
              <a:rect r="r" b="b" t="t" l="l"/>
              <a:pathLst>
                <a:path h="1411859" w="6917563">
                  <a:moveTo>
                    <a:pt x="0" y="0"/>
                  </a:moveTo>
                  <a:lnTo>
                    <a:pt x="0" y="1411859"/>
                  </a:lnTo>
                  <a:lnTo>
                    <a:pt x="6513703" y="1411859"/>
                  </a:lnTo>
                  <a:lnTo>
                    <a:pt x="6917563" y="0"/>
                  </a:lnTo>
                  <a:close/>
                </a:path>
              </a:pathLst>
            </a:custGeom>
            <a:solidFill>
              <a:srgbClr val="1E4178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6884293" y="23664"/>
            <a:ext cx="11403707" cy="10263336"/>
          </a:xfrm>
          <a:custGeom>
            <a:avLst/>
            <a:gdLst/>
            <a:ahLst/>
            <a:cxnLst/>
            <a:rect r="r" b="b" t="t" l="l"/>
            <a:pathLst>
              <a:path h="10263336" w="11403707">
                <a:moveTo>
                  <a:pt x="0" y="0"/>
                </a:moveTo>
                <a:lnTo>
                  <a:pt x="11403707" y="0"/>
                </a:lnTo>
                <a:lnTo>
                  <a:pt x="11403707" y="10263336"/>
                </a:lnTo>
                <a:lnTo>
                  <a:pt x="0" y="102633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87768" y="9346492"/>
            <a:ext cx="274491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41E1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19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40657" y="560156"/>
            <a:ext cx="3360696" cy="646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</a:pPr>
            <a:r>
              <a:rPr lang="en-US" sz="37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Sprint 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-40796" y="4624064"/>
            <a:ext cx="4485846" cy="943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 b="true">
                <a:solidFill>
                  <a:srgbClr val="EEEEE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Diagramme cas d'utilisation raffiné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02831" y="9268130"/>
            <a:ext cx="651748" cy="651739"/>
          </a:xfrm>
          <a:custGeom>
            <a:avLst/>
            <a:gdLst/>
            <a:ahLst/>
            <a:cxnLst/>
            <a:rect r="r" b="b" t="t" l="l"/>
            <a:pathLst>
              <a:path h="651739" w="651748">
                <a:moveTo>
                  <a:pt x="0" y="0"/>
                </a:moveTo>
                <a:lnTo>
                  <a:pt x="651748" y="0"/>
                </a:lnTo>
                <a:lnTo>
                  <a:pt x="651748" y="651738"/>
                </a:lnTo>
                <a:lnTo>
                  <a:pt x="0" y="6517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0" y="600847"/>
            <a:ext cx="6216396" cy="759343"/>
            <a:chOff x="0" y="0"/>
            <a:chExt cx="8288528" cy="10124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288528" cy="1012444"/>
            </a:xfrm>
            <a:custGeom>
              <a:avLst/>
              <a:gdLst/>
              <a:ahLst/>
              <a:cxnLst/>
              <a:rect r="r" b="b" t="t" l="l"/>
              <a:pathLst>
                <a:path h="1012444" w="8288528">
                  <a:moveTo>
                    <a:pt x="0" y="0"/>
                  </a:moveTo>
                  <a:lnTo>
                    <a:pt x="0" y="1012444"/>
                  </a:lnTo>
                  <a:lnTo>
                    <a:pt x="7218807" y="1012444"/>
                  </a:lnTo>
                  <a:lnTo>
                    <a:pt x="8288528" y="127"/>
                  </a:lnTo>
                  <a:lnTo>
                    <a:pt x="8288528" y="0"/>
                  </a:lnTo>
                  <a:close/>
                </a:path>
              </a:pathLst>
            </a:custGeom>
            <a:solidFill>
              <a:srgbClr val="F5812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-26" y="-36"/>
            <a:ext cx="6473441" cy="407799"/>
          </a:xfrm>
          <a:custGeom>
            <a:avLst/>
            <a:gdLst/>
            <a:ahLst/>
            <a:cxnLst/>
            <a:rect r="r" b="b" t="t" l="l"/>
            <a:pathLst>
              <a:path h="407799" w="6473441">
                <a:moveTo>
                  <a:pt x="0" y="0"/>
                </a:moveTo>
                <a:lnTo>
                  <a:pt x="6473441" y="0"/>
                </a:lnTo>
                <a:lnTo>
                  <a:pt x="6473441" y="407799"/>
                </a:lnTo>
                <a:lnTo>
                  <a:pt x="0" y="4077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05394" y="4655239"/>
            <a:ext cx="5188201" cy="1058856"/>
            <a:chOff x="0" y="0"/>
            <a:chExt cx="6917601" cy="141180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917563" cy="1411859"/>
            </a:xfrm>
            <a:custGeom>
              <a:avLst/>
              <a:gdLst/>
              <a:ahLst/>
              <a:cxnLst/>
              <a:rect r="r" b="b" t="t" l="l"/>
              <a:pathLst>
                <a:path h="1411859" w="6917563">
                  <a:moveTo>
                    <a:pt x="0" y="0"/>
                  </a:moveTo>
                  <a:lnTo>
                    <a:pt x="0" y="1411859"/>
                  </a:lnTo>
                  <a:lnTo>
                    <a:pt x="6513703" y="1411859"/>
                  </a:lnTo>
                  <a:lnTo>
                    <a:pt x="6917563" y="0"/>
                  </a:lnTo>
                  <a:close/>
                </a:path>
              </a:pathLst>
            </a:custGeom>
            <a:solidFill>
              <a:srgbClr val="1E4178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4937884" y="821271"/>
            <a:ext cx="773603" cy="148238"/>
          </a:xfrm>
          <a:custGeom>
            <a:avLst/>
            <a:gdLst/>
            <a:ahLst/>
            <a:cxnLst/>
            <a:rect r="r" b="b" t="t" l="l"/>
            <a:pathLst>
              <a:path h="148238" w="773603">
                <a:moveTo>
                  <a:pt x="0" y="0"/>
                </a:moveTo>
                <a:lnTo>
                  <a:pt x="773603" y="0"/>
                </a:lnTo>
                <a:lnTo>
                  <a:pt x="773603" y="148238"/>
                </a:lnTo>
                <a:lnTo>
                  <a:pt x="0" y="1482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047559" y="0"/>
            <a:ext cx="9361170" cy="10287000"/>
          </a:xfrm>
          <a:custGeom>
            <a:avLst/>
            <a:gdLst/>
            <a:ahLst/>
            <a:cxnLst/>
            <a:rect r="r" b="b" t="t" l="l"/>
            <a:pathLst>
              <a:path h="10287000" w="9361170">
                <a:moveTo>
                  <a:pt x="0" y="0"/>
                </a:moveTo>
                <a:lnTo>
                  <a:pt x="9361170" y="0"/>
                </a:lnTo>
                <a:lnTo>
                  <a:pt x="936117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87768" y="9346492"/>
            <a:ext cx="347929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41E1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20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40657" y="560156"/>
            <a:ext cx="3360696" cy="646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</a:pPr>
            <a:r>
              <a:rPr lang="en-US" sz="37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Sprint 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99936" y="4624064"/>
            <a:ext cx="4242140" cy="943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 b="true">
                <a:solidFill>
                  <a:srgbClr val="EEEEE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Diagramme de classe de conception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" y="600847"/>
            <a:ext cx="6216396" cy="759343"/>
            <a:chOff x="0" y="0"/>
            <a:chExt cx="8288528" cy="10124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288528" cy="1012444"/>
            </a:xfrm>
            <a:custGeom>
              <a:avLst/>
              <a:gdLst/>
              <a:ahLst/>
              <a:cxnLst/>
              <a:rect r="r" b="b" t="t" l="l"/>
              <a:pathLst>
                <a:path h="1012444" w="8288528">
                  <a:moveTo>
                    <a:pt x="0" y="0"/>
                  </a:moveTo>
                  <a:lnTo>
                    <a:pt x="0" y="1012444"/>
                  </a:lnTo>
                  <a:lnTo>
                    <a:pt x="7218807" y="1012444"/>
                  </a:lnTo>
                  <a:lnTo>
                    <a:pt x="8288528" y="127"/>
                  </a:lnTo>
                  <a:lnTo>
                    <a:pt x="8288528" y="0"/>
                  </a:lnTo>
                  <a:close/>
                </a:path>
              </a:pathLst>
            </a:custGeom>
            <a:solidFill>
              <a:srgbClr val="F5812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26" y="-36"/>
            <a:ext cx="6473441" cy="407799"/>
          </a:xfrm>
          <a:custGeom>
            <a:avLst/>
            <a:gdLst/>
            <a:ahLst/>
            <a:cxnLst/>
            <a:rect r="r" b="b" t="t" l="l"/>
            <a:pathLst>
              <a:path h="407799" w="6473441">
                <a:moveTo>
                  <a:pt x="0" y="0"/>
                </a:moveTo>
                <a:lnTo>
                  <a:pt x="6473441" y="0"/>
                </a:lnTo>
                <a:lnTo>
                  <a:pt x="6473441" y="407799"/>
                </a:lnTo>
                <a:lnTo>
                  <a:pt x="0" y="4077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076343" y="5265306"/>
            <a:ext cx="2178244" cy="628479"/>
          </a:xfrm>
          <a:custGeom>
            <a:avLst/>
            <a:gdLst/>
            <a:ahLst/>
            <a:cxnLst/>
            <a:rect r="r" b="b" t="t" l="l"/>
            <a:pathLst>
              <a:path h="628479" w="2178244">
                <a:moveTo>
                  <a:pt x="0" y="0"/>
                </a:moveTo>
                <a:lnTo>
                  <a:pt x="2178243" y="0"/>
                </a:lnTo>
                <a:lnTo>
                  <a:pt x="2178243" y="628478"/>
                </a:lnTo>
                <a:lnTo>
                  <a:pt x="0" y="6284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701" r="0" b="-701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623630" y="-1989734"/>
            <a:ext cx="12317139" cy="13394150"/>
          </a:xfrm>
          <a:custGeom>
            <a:avLst/>
            <a:gdLst/>
            <a:ahLst/>
            <a:cxnLst/>
            <a:rect r="r" b="b" t="t" l="l"/>
            <a:pathLst>
              <a:path h="13394150" w="12317139">
                <a:moveTo>
                  <a:pt x="0" y="0"/>
                </a:moveTo>
                <a:lnTo>
                  <a:pt x="12317140" y="0"/>
                </a:lnTo>
                <a:lnTo>
                  <a:pt x="12317140" y="13394150"/>
                </a:lnTo>
                <a:lnTo>
                  <a:pt x="0" y="133941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5" t="0" r="-5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190059" y="2553376"/>
            <a:ext cx="6025639" cy="1501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9"/>
              </a:lnSpc>
            </a:pPr>
            <a:r>
              <a:rPr lang="en-US" sz="7998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Réalisation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40657" y="560156"/>
            <a:ext cx="3360696" cy="722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</a:pPr>
            <a:r>
              <a:rPr lang="en-US" sz="37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Réalisation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18551" y="-3502858"/>
            <a:ext cx="6837001" cy="11572976"/>
          </a:xfrm>
          <a:custGeom>
            <a:avLst/>
            <a:gdLst/>
            <a:ahLst/>
            <a:cxnLst/>
            <a:rect r="r" b="b" t="t" l="l"/>
            <a:pathLst>
              <a:path h="11572976" w="6837001">
                <a:moveTo>
                  <a:pt x="0" y="0"/>
                </a:moveTo>
                <a:lnTo>
                  <a:pt x="6837001" y="0"/>
                </a:lnTo>
                <a:lnTo>
                  <a:pt x="6837001" y="11572976"/>
                </a:lnTo>
                <a:lnTo>
                  <a:pt x="0" y="115729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613066" y="1738903"/>
            <a:ext cx="6649066" cy="11161070"/>
          </a:xfrm>
          <a:custGeom>
            <a:avLst/>
            <a:gdLst/>
            <a:ahLst/>
            <a:cxnLst/>
            <a:rect r="r" b="b" t="t" l="l"/>
            <a:pathLst>
              <a:path h="11161070" w="6649066">
                <a:moveTo>
                  <a:pt x="0" y="0"/>
                </a:moveTo>
                <a:lnTo>
                  <a:pt x="6649066" y="0"/>
                </a:lnTo>
                <a:lnTo>
                  <a:pt x="6649066" y="11161070"/>
                </a:lnTo>
                <a:lnTo>
                  <a:pt x="0" y="111610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343723" y="-2041322"/>
            <a:ext cx="8637184" cy="13394150"/>
          </a:xfrm>
          <a:custGeom>
            <a:avLst/>
            <a:gdLst/>
            <a:ahLst/>
            <a:cxnLst/>
            <a:rect r="r" b="b" t="t" l="l"/>
            <a:pathLst>
              <a:path h="13394150" w="8637184">
                <a:moveTo>
                  <a:pt x="0" y="0"/>
                </a:moveTo>
                <a:lnTo>
                  <a:pt x="8637184" y="0"/>
                </a:lnTo>
                <a:lnTo>
                  <a:pt x="8637184" y="13394150"/>
                </a:lnTo>
                <a:lnTo>
                  <a:pt x="0" y="133941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38" t="0" r="-38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10" y="600847"/>
            <a:ext cx="6216396" cy="759343"/>
            <a:chOff x="0" y="0"/>
            <a:chExt cx="8288528" cy="101245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288528" cy="1012444"/>
            </a:xfrm>
            <a:custGeom>
              <a:avLst/>
              <a:gdLst/>
              <a:ahLst/>
              <a:cxnLst/>
              <a:rect r="r" b="b" t="t" l="l"/>
              <a:pathLst>
                <a:path h="1012444" w="8288528">
                  <a:moveTo>
                    <a:pt x="0" y="0"/>
                  </a:moveTo>
                  <a:lnTo>
                    <a:pt x="0" y="1012444"/>
                  </a:lnTo>
                  <a:lnTo>
                    <a:pt x="7218807" y="1012444"/>
                  </a:lnTo>
                  <a:lnTo>
                    <a:pt x="8288528" y="127"/>
                  </a:lnTo>
                  <a:lnTo>
                    <a:pt x="8288528" y="0"/>
                  </a:lnTo>
                  <a:close/>
                </a:path>
              </a:pathLst>
            </a:custGeom>
            <a:solidFill>
              <a:srgbClr val="F5812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-26" y="-36"/>
            <a:ext cx="6473441" cy="407799"/>
          </a:xfrm>
          <a:custGeom>
            <a:avLst/>
            <a:gdLst/>
            <a:ahLst/>
            <a:cxnLst/>
            <a:rect r="r" b="b" t="t" l="l"/>
            <a:pathLst>
              <a:path h="407799" w="6473441">
                <a:moveTo>
                  <a:pt x="0" y="0"/>
                </a:moveTo>
                <a:lnTo>
                  <a:pt x="6473441" y="0"/>
                </a:lnTo>
                <a:lnTo>
                  <a:pt x="6473441" y="407799"/>
                </a:lnTo>
                <a:lnTo>
                  <a:pt x="0" y="40779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33045" y="573500"/>
            <a:ext cx="6751082" cy="647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Requirements analysis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015139" y="5027943"/>
            <a:ext cx="10518153" cy="10518115"/>
            <a:chOff x="0" y="0"/>
            <a:chExt cx="14024204" cy="1402415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024229" cy="14024229"/>
            </a:xfrm>
            <a:custGeom>
              <a:avLst/>
              <a:gdLst/>
              <a:ahLst/>
              <a:cxnLst/>
              <a:rect r="r" b="b" t="t" l="l"/>
              <a:pathLst>
                <a:path h="14024229" w="14024229">
                  <a:moveTo>
                    <a:pt x="14024229" y="7012178"/>
                  </a:moveTo>
                  <a:cubicBezTo>
                    <a:pt x="14024229" y="10884663"/>
                    <a:pt x="10884789" y="14024229"/>
                    <a:pt x="7012178" y="14024229"/>
                  </a:cubicBezTo>
                  <a:cubicBezTo>
                    <a:pt x="3139567" y="14024229"/>
                    <a:pt x="0" y="10884662"/>
                    <a:pt x="0" y="7012178"/>
                  </a:cubicBezTo>
                  <a:cubicBezTo>
                    <a:pt x="0" y="3139440"/>
                    <a:pt x="3139440" y="0"/>
                    <a:pt x="7012051" y="0"/>
                  </a:cubicBezTo>
                  <a:cubicBezTo>
                    <a:pt x="10884662" y="0"/>
                    <a:pt x="14024102" y="3139440"/>
                    <a:pt x="14024102" y="7012178"/>
                  </a:cubicBezTo>
                  <a:close/>
                </a:path>
              </a:pathLst>
            </a:custGeom>
            <a:blipFill>
              <a:blip r:embed="rId10"/>
              <a:stretch>
                <a:fillRect l="-38837" t="0" r="-38837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2715466" y="5556968"/>
            <a:ext cx="10100042" cy="10100042"/>
          </a:xfrm>
          <a:custGeom>
            <a:avLst/>
            <a:gdLst/>
            <a:ahLst/>
            <a:cxnLst/>
            <a:rect r="r" b="b" t="t" l="l"/>
            <a:pathLst>
              <a:path h="10100042" w="10100042">
                <a:moveTo>
                  <a:pt x="0" y="0"/>
                </a:moveTo>
                <a:lnTo>
                  <a:pt x="10100042" y="0"/>
                </a:lnTo>
                <a:lnTo>
                  <a:pt x="10100042" y="10100042"/>
                </a:lnTo>
                <a:lnTo>
                  <a:pt x="0" y="1010004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895410" y="9716859"/>
            <a:ext cx="9392544" cy="570101"/>
          </a:xfrm>
          <a:custGeom>
            <a:avLst/>
            <a:gdLst/>
            <a:ahLst/>
            <a:cxnLst/>
            <a:rect r="r" b="b" t="t" l="l"/>
            <a:pathLst>
              <a:path h="570101" w="9392544">
                <a:moveTo>
                  <a:pt x="0" y="0"/>
                </a:moveTo>
                <a:lnTo>
                  <a:pt x="9392544" y="0"/>
                </a:lnTo>
                <a:lnTo>
                  <a:pt x="9392544" y="570101"/>
                </a:lnTo>
                <a:lnTo>
                  <a:pt x="0" y="57010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342678" y="3839366"/>
            <a:ext cx="1984981" cy="1304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099"/>
              </a:lnSpc>
            </a:pPr>
            <a:r>
              <a:rPr lang="en-US" sz="6498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  <a:r>
              <a:rPr lang="en-US" sz="6498" b="true">
                <a:solidFill>
                  <a:srgbClr val="5271FF"/>
                </a:solidFill>
                <a:latin typeface="Poppins Bold"/>
                <a:ea typeface="Poppins Bold"/>
                <a:cs typeface="Poppins Bold"/>
                <a:sym typeface="Poppins Bold"/>
              </a:rPr>
              <a:t>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599684" y="4314358"/>
            <a:ext cx="5289194" cy="713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Architecture physique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4779330" y="3542369"/>
            <a:ext cx="11242434" cy="2014599"/>
          </a:xfrm>
          <a:custGeom>
            <a:avLst/>
            <a:gdLst/>
            <a:ahLst/>
            <a:cxnLst/>
            <a:rect r="r" b="b" t="t" l="l"/>
            <a:pathLst>
              <a:path h="2014599" w="11242434">
                <a:moveTo>
                  <a:pt x="0" y="0"/>
                </a:moveTo>
                <a:lnTo>
                  <a:pt x="11242434" y="0"/>
                </a:lnTo>
                <a:lnTo>
                  <a:pt x="11242434" y="2014599"/>
                </a:lnTo>
                <a:lnTo>
                  <a:pt x="0" y="201459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4252211" y="3817875"/>
            <a:ext cx="1557029" cy="1557029"/>
          </a:xfrm>
          <a:custGeom>
            <a:avLst/>
            <a:gdLst/>
            <a:ahLst/>
            <a:cxnLst/>
            <a:rect r="r" b="b" t="t" l="l"/>
            <a:pathLst>
              <a:path h="1557029" w="1557029">
                <a:moveTo>
                  <a:pt x="0" y="0"/>
                </a:moveTo>
                <a:lnTo>
                  <a:pt x="1557029" y="0"/>
                </a:lnTo>
                <a:lnTo>
                  <a:pt x="1557029" y="1557029"/>
                </a:lnTo>
                <a:lnTo>
                  <a:pt x="0" y="1557029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5994025" y="3892448"/>
            <a:ext cx="10280190" cy="1124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82"/>
              </a:lnSpc>
            </a:pPr>
            <a:r>
              <a:rPr lang="en-US" sz="5557" b="true">
                <a:solidFill>
                  <a:srgbClr val="2269F5"/>
                </a:solidFill>
                <a:latin typeface="Telegraf Bold"/>
                <a:ea typeface="Telegraf Bold"/>
                <a:cs typeface="Telegraf Bold"/>
                <a:sym typeface="Telegraf Bold"/>
              </a:rPr>
              <a:t>Conclusion et perspectives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357487" y="3613490"/>
            <a:ext cx="1346483" cy="1565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85"/>
              </a:lnSpc>
            </a:pPr>
            <a:r>
              <a:rPr lang="en-US" sz="7703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6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02831" y="9268130"/>
            <a:ext cx="651748" cy="651739"/>
          </a:xfrm>
          <a:custGeom>
            <a:avLst/>
            <a:gdLst/>
            <a:ahLst/>
            <a:cxnLst/>
            <a:rect r="r" b="b" t="t" l="l"/>
            <a:pathLst>
              <a:path h="651739" w="651748">
                <a:moveTo>
                  <a:pt x="0" y="0"/>
                </a:moveTo>
                <a:lnTo>
                  <a:pt x="651748" y="0"/>
                </a:lnTo>
                <a:lnTo>
                  <a:pt x="651748" y="651738"/>
                </a:lnTo>
                <a:lnTo>
                  <a:pt x="0" y="6517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54579" y="4426210"/>
            <a:ext cx="123825" cy="123825"/>
          </a:xfrm>
          <a:custGeom>
            <a:avLst/>
            <a:gdLst/>
            <a:ahLst/>
            <a:cxnLst/>
            <a:rect r="r" b="b" t="t" l="l"/>
            <a:pathLst>
              <a:path h="123825" w="123825">
                <a:moveTo>
                  <a:pt x="0" y="0"/>
                </a:moveTo>
                <a:lnTo>
                  <a:pt x="123825" y="0"/>
                </a:lnTo>
                <a:lnTo>
                  <a:pt x="123825" y="123825"/>
                </a:lnTo>
                <a:lnTo>
                  <a:pt x="0" y="1238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54579" y="5947191"/>
            <a:ext cx="123825" cy="123825"/>
          </a:xfrm>
          <a:custGeom>
            <a:avLst/>
            <a:gdLst/>
            <a:ahLst/>
            <a:cxnLst/>
            <a:rect r="r" b="b" t="t" l="l"/>
            <a:pathLst>
              <a:path h="123825" w="123825">
                <a:moveTo>
                  <a:pt x="0" y="0"/>
                </a:moveTo>
                <a:lnTo>
                  <a:pt x="123825" y="0"/>
                </a:lnTo>
                <a:lnTo>
                  <a:pt x="123825" y="123825"/>
                </a:lnTo>
                <a:lnTo>
                  <a:pt x="0" y="1238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964703" y="600847"/>
            <a:ext cx="8181251" cy="1054656"/>
          </a:xfrm>
          <a:custGeom>
            <a:avLst/>
            <a:gdLst/>
            <a:ahLst/>
            <a:cxnLst/>
            <a:rect r="r" b="b" t="t" l="l"/>
            <a:pathLst>
              <a:path h="1054656" w="8181251">
                <a:moveTo>
                  <a:pt x="0" y="0"/>
                </a:moveTo>
                <a:lnTo>
                  <a:pt x="8181251" y="0"/>
                </a:lnTo>
                <a:lnTo>
                  <a:pt x="8181251" y="1054655"/>
                </a:lnTo>
                <a:lnTo>
                  <a:pt x="0" y="105465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571" r="0" b="-57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6" y="-36"/>
            <a:ext cx="6473441" cy="407799"/>
          </a:xfrm>
          <a:custGeom>
            <a:avLst/>
            <a:gdLst/>
            <a:ahLst/>
            <a:cxnLst/>
            <a:rect r="r" b="b" t="t" l="l"/>
            <a:pathLst>
              <a:path h="407799" w="6473441">
                <a:moveTo>
                  <a:pt x="0" y="0"/>
                </a:moveTo>
                <a:lnTo>
                  <a:pt x="6473441" y="0"/>
                </a:lnTo>
                <a:lnTo>
                  <a:pt x="6473441" y="407799"/>
                </a:lnTo>
                <a:lnTo>
                  <a:pt x="0" y="40779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623630" y="-1989734"/>
            <a:ext cx="12317139" cy="13394150"/>
          </a:xfrm>
          <a:custGeom>
            <a:avLst/>
            <a:gdLst/>
            <a:ahLst/>
            <a:cxnLst/>
            <a:rect r="r" b="b" t="t" l="l"/>
            <a:pathLst>
              <a:path h="13394150" w="12317139">
                <a:moveTo>
                  <a:pt x="0" y="0"/>
                </a:moveTo>
                <a:lnTo>
                  <a:pt x="12317140" y="0"/>
                </a:lnTo>
                <a:lnTo>
                  <a:pt x="12317140" y="13394150"/>
                </a:lnTo>
                <a:lnTo>
                  <a:pt x="0" y="1339415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5" t="0" r="-5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2221601"/>
            <a:ext cx="11920614" cy="1111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8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Conclusion et perspectives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87768" y="9346492"/>
            <a:ext cx="333785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41E1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53155" y="885292"/>
            <a:ext cx="5963393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Conclusion et perspectives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59226" y="4207278"/>
            <a:ext cx="7149798" cy="9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3"/>
              </a:lnSpc>
            </a:pPr>
            <a:r>
              <a:rPr lang="en-US" sz="2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Migrati</a:t>
            </a:r>
            <a:r>
              <a:rPr lang="en-US" sz="2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on vers une application web ou cloud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59226" y="5628103"/>
            <a:ext cx="7352976" cy="4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sz="2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Dévelo</a:t>
            </a:r>
            <a:r>
              <a:rPr lang="en-US" sz="2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ppement d’une version mobile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02831" y="9268130"/>
            <a:ext cx="651748" cy="651739"/>
          </a:xfrm>
          <a:custGeom>
            <a:avLst/>
            <a:gdLst/>
            <a:ahLst/>
            <a:cxnLst/>
            <a:rect r="r" b="b" t="t" l="l"/>
            <a:pathLst>
              <a:path h="651739" w="651748">
                <a:moveTo>
                  <a:pt x="0" y="0"/>
                </a:moveTo>
                <a:lnTo>
                  <a:pt x="651748" y="0"/>
                </a:lnTo>
                <a:lnTo>
                  <a:pt x="651748" y="651738"/>
                </a:lnTo>
                <a:lnTo>
                  <a:pt x="0" y="6517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6" y="-36"/>
            <a:ext cx="6473441" cy="407799"/>
          </a:xfrm>
          <a:custGeom>
            <a:avLst/>
            <a:gdLst/>
            <a:ahLst/>
            <a:cxnLst/>
            <a:rect r="r" b="b" t="t" l="l"/>
            <a:pathLst>
              <a:path h="407799" w="6473441">
                <a:moveTo>
                  <a:pt x="0" y="0"/>
                </a:moveTo>
                <a:lnTo>
                  <a:pt x="6473441" y="0"/>
                </a:lnTo>
                <a:lnTo>
                  <a:pt x="6473441" y="407799"/>
                </a:lnTo>
                <a:lnTo>
                  <a:pt x="0" y="4077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10" y="600847"/>
            <a:ext cx="6216396" cy="759343"/>
            <a:chOff x="0" y="0"/>
            <a:chExt cx="8288528" cy="10124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288528" cy="1012444"/>
            </a:xfrm>
            <a:custGeom>
              <a:avLst/>
              <a:gdLst/>
              <a:ahLst/>
              <a:cxnLst/>
              <a:rect r="r" b="b" t="t" l="l"/>
              <a:pathLst>
                <a:path h="1012444" w="8288528">
                  <a:moveTo>
                    <a:pt x="0" y="0"/>
                  </a:moveTo>
                  <a:lnTo>
                    <a:pt x="0" y="1012444"/>
                  </a:lnTo>
                  <a:lnTo>
                    <a:pt x="7218807" y="1012444"/>
                  </a:lnTo>
                  <a:lnTo>
                    <a:pt x="8288528" y="127"/>
                  </a:lnTo>
                  <a:lnTo>
                    <a:pt x="8288528" y="0"/>
                  </a:lnTo>
                  <a:close/>
                </a:path>
              </a:pathLst>
            </a:custGeom>
            <a:solidFill>
              <a:srgbClr val="F5812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601475" y="2060191"/>
            <a:ext cx="893950" cy="864699"/>
          </a:xfrm>
          <a:custGeom>
            <a:avLst/>
            <a:gdLst/>
            <a:ahLst/>
            <a:cxnLst/>
            <a:rect r="r" b="b" t="t" l="l"/>
            <a:pathLst>
              <a:path h="864699" w="893950">
                <a:moveTo>
                  <a:pt x="0" y="0"/>
                </a:moveTo>
                <a:lnTo>
                  <a:pt x="893950" y="0"/>
                </a:lnTo>
                <a:lnTo>
                  <a:pt x="893950" y="864698"/>
                </a:lnTo>
                <a:lnTo>
                  <a:pt x="0" y="8646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41" r="0" b="-41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623630" y="-1989734"/>
            <a:ext cx="12317139" cy="13394150"/>
          </a:xfrm>
          <a:custGeom>
            <a:avLst/>
            <a:gdLst/>
            <a:ahLst/>
            <a:cxnLst/>
            <a:rect r="r" b="b" t="t" l="l"/>
            <a:pathLst>
              <a:path h="13394150" w="12317139">
                <a:moveTo>
                  <a:pt x="0" y="0"/>
                </a:moveTo>
                <a:lnTo>
                  <a:pt x="12317140" y="0"/>
                </a:lnTo>
                <a:lnTo>
                  <a:pt x="12317140" y="13394150"/>
                </a:lnTo>
                <a:lnTo>
                  <a:pt x="0" y="133941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5" t="0" r="-5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73728" y="3255331"/>
            <a:ext cx="955291" cy="866708"/>
          </a:xfrm>
          <a:custGeom>
            <a:avLst/>
            <a:gdLst/>
            <a:ahLst/>
            <a:cxnLst/>
            <a:rect r="r" b="b" t="t" l="l"/>
            <a:pathLst>
              <a:path h="866708" w="955291">
                <a:moveTo>
                  <a:pt x="0" y="0"/>
                </a:moveTo>
                <a:lnTo>
                  <a:pt x="955290" y="0"/>
                </a:lnTo>
                <a:lnTo>
                  <a:pt x="955290" y="866708"/>
                </a:lnTo>
                <a:lnTo>
                  <a:pt x="0" y="8667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198" r="0" b="-20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984975" y="3255331"/>
            <a:ext cx="955291" cy="866708"/>
          </a:xfrm>
          <a:custGeom>
            <a:avLst/>
            <a:gdLst/>
            <a:ahLst/>
            <a:cxnLst/>
            <a:rect r="r" b="b" t="t" l="l"/>
            <a:pathLst>
              <a:path h="866708" w="955291">
                <a:moveTo>
                  <a:pt x="0" y="0"/>
                </a:moveTo>
                <a:lnTo>
                  <a:pt x="955291" y="0"/>
                </a:lnTo>
                <a:lnTo>
                  <a:pt x="955291" y="866708"/>
                </a:lnTo>
                <a:lnTo>
                  <a:pt x="0" y="8667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198" r="0" b="-20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35640" y="6039421"/>
            <a:ext cx="955291" cy="866708"/>
          </a:xfrm>
          <a:custGeom>
            <a:avLst/>
            <a:gdLst/>
            <a:ahLst/>
            <a:cxnLst/>
            <a:rect r="r" b="b" t="t" l="l"/>
            <a:pathLst>
              <a:path h="866708" w="955291">
                <a:moveTo>
                  <a:pt x="0" y="0"/>
                </a:moveTo>
                <a:lnTo>
                  <a:pt x="955291" y="0"/>
                </a:lnTo>
                <a:lnTo>
                  <a:pt x="955291" y="866709"/>
                </a:lnTo>
                <a:lnTo>
                  <a:pt x="0" y="86670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198" r="0" b="-20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371449" y="5981332"/>
            <a:ext cx="955291" cy="866708"/>
          </a:xfrm>
          <a:custGeom>
            <a:avLst/>
            <a:gdLst/>
            <a:ahLst/>
            <a:cxnLst/>
            <a:rect r="r" b="b" t="t" l="l"/>
            <a:pathLst>
              <a:path h="866708" w="955291">
                <a:moveTo>
                  <a:pt x="0" y="0"/>
                </a:moveTo>
                <a:lnTo>
                  <a:pt x="955291" y="0"/>
                </a:lnTo>
                <a:lnTo>
                  <a:pt x="955291" y="866708"/>
                </a:lnTo>
                <a:lnTo>
                  <a:pt x="0" y="8667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198" r="0" b="-20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87768" y="9346492"/>
            <a:ext cx="466811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41E1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24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707126"/>
            <a:ext cx="4273086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Référence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93185" y="3650590"/>
            <a:ext cx="5359324" cy="4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13"/>
              </a:lnSpc>
            </a:pPr>
            <a:r>
              <a:rPr lang="en-US" sz="2598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Orac</a:t>
            </a:r>
            <a:r>
              <a:rPr lang="en-US" sz="2598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le Java Documentation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152656" y="4331018"/>
            <a:ext cx="4370099" cy="1220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10209" indent="-205105" lvl="1">
              <a:lnSpc>
                <a:spcPts val="2421"/>
              </a:lnSpc>
              <a:buFont typeface="Arial"/>
              <a:buChar char="•"/>
            </a:pPr>
            <a:r>
              <a:rPr lang="en-US" sz="1899" u="sng">
                <a:solidFill>
                  <a:srgbClr val="0000FF"/>
                </a:solidFill>
                <a:latin typeface="Montserrat"/>
                <a:ea typeface="Montserrat"/>
                <a:cs typeface="Montserrat"/>
                <a:sym typeface="Montserrat"/>
                <a:hlinkClick r:id="rId12" tooltip="https://docs.oracle.com/en-us/iaas/mysql-database/doc/getting-started.html"/>
              </a:rPr>
              <a:t>https://docs.oracle.com/en-us/iaas/mysql-database/doc/getting-started.html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455097" y="6444205"/>
            <a:ext cx="4362450" cy="430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69"/>
              </a:lnSpc>
            </a:pPr>
            <a:r>
              <a:rPr lang="en-US" sz="27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JavaFX Do</a:t>
            </a:r>
            <a:r>
              <a:rPr lang="en-US" sz="27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cumentation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295367" y="7114740"/>
            <a:ext cx="3422591" cy="305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10209" indent="-205105" lvl="1">
              <a:lnSpc>
                <a:spcPts val="2421"/>
              </a:lnSpc>
              <a:buFont typeface="Arial"/>
              <a:buChar char="•"/>
            </a:pPr>
            <a:r>
              <a:rPr lang="en-US" sz="1899" u="sng">
                <a:solidFill>
                  <a:srgbClr val="0000FF"/>
                </a:solidFill>
                <a:latin typeface="Montserrat"/>
                <a:ea typeface="Montserrat"/>
                <a:cs typeface="Montserrat"/>
                <a:sym typeface="Montserrat"/>
                <a:hlinkClick r:id="rId13" tooltip="https://openjfx.io"/>
              </a:rPr>
              <a:t>https://openjfx.io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696302" y="6247033"/>
            <a:ext cx="2416175" cy="4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14"/>
              </a:lnSpc>
            </a:pPr>
            <a:r>
              <a:rPr lang="en-US" sz="25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UML &amp; Design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696302" y="6968595"/>
            <a:ext cx="4370099" cy="305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10209" indent="-205105" lvl="1">
              <a:lnSpc>
                <a:spcPts val="2421"/>
              </a:lnSpc>
              <a:buFont typeface="Arial"/>
              <a:buChar char="•"/>
            </a:pPr>
            <a:r>
              <a:rPr lang="en-US" sz="1899" u="sng">
                <a:solidFill>
                  <a:srgbClr val="0000FF"/>
                </a:solidFill>
                <a:latin typeface="Montserrat"/>
                <a:ea typeface="Montserrat"/>
                <a:cs typeface="Montserrat"/>
                <a:sym typeface="Montserrat"/>
                <a:hlinkClick r:id="rId14" tooltip="https://www.uml-diagrams.org"/>
              </a:rPr>
              <a:t>https://www.uml-diagrams.org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13286" y="4401518"/>
            <a:ext cx="4246959" cy="305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10209" indent="-205105" lvl="1">
              <a:lnSpc>
                <a:spcPts val="2421"/>
              </a:lnSpc>
              <a:buFont typeface="Arial"/>
              <a:buChar char="•"/>
            </a:pPr>
            <a:r>
              <a:rPr lang="en-US" sz="1899" strike="noStrike" u="sng">
                <a:solidFill>
                  <a:srgbClr val="0000FF"/>
                </a:solidFill>
                <a:latin typeface="Montserrat"/>
                <a:ea typeface="Montserrat"/>
                <a:cs typeface="Montserrat"/>
                <a:sym typeface="Montserrat"/>
              </a:rPr>
              <a:t>https://docs.oracle.com/en/java/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326740" y="3482005"/>
            <a:ext cx="4331361" cy="430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69"/>
              </a:lnSpc>
            </a:pPr>
            <a:r>
              <a:rPr lang="en-US" sz="27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My</a:t>
            </a:r>
            <a:r>
              <a:rPr lang="en-US" sz="27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SQL Documentation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57497" y="-3182026"/>
            <a:ext cx="23698200" cy="13944600"/>
            <a:chOff x="0" y="0"/>
            <a:chExt cx="31597600" cy="1859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597600" cy="18592800"/>
            </a:xfrm>
            <a:custGeom>
              <a:avLst/>
              <a:gdLst/>
              <a:ahLst/>
              <a:cxnLst/>
              <a:rect r="r" b="b" t="t" l="l"/>
              <a:pathLst>
                <a:path h="18592800" w="31597600">
                  <a:moveTo>
                    <a:pt x="0" y="0"/>
                  </a:moveTo>
                  <a:lnTo>
                    <a:pt x="31597600" y="0"/>
                  </a:lnTo>
                  <a:lnTo>
                    <a:pt x="31597600" y="18592800"/>
                  </a:lnTo>
                  <a:lnTo>
                    <a:pt x="0" y="1859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7000"/>
              </a:blip>
              <a:stretch>
                <a:fillRect l="0" t="-9" r="0" b="-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" y="8220294"/>
            <a:ext cx="7750616" cy="2066706"/>
            <a:chOff x="0" y="0"/>
            <a:chExt cx="10334155" cy="2755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334154" cy="2755633"/>
            </a:xfrm>
            <a:custGeom>
              <a:avLst/>
              <a:gdLst/>
              <a:ahLst/>
              <a:cxnLst/>
              <a:rect r="r" b="b" t="t" l="l"/>
              <a:pathLst>
                <a:path h="2755633" w="10334154">
                  <a:moveTo>
                    <a:pt x="0" y="0"/>
                  </a:moveTo>
                  <a:lnTo>
                    <a:pt x="0" y="2755633"/>
                  </a:lnTo>
                  <a:lnTo>
                    <a:pt x="9273155" y="2755633"/>
                  </a:lnTo>
                  <a:lnTo>
                    <a:pt x="10334154" y="4821"/>
                  </a:lnTo>
                  <a:lnTo>
                    <a:pt x="10334154" y="0"/>
                  </a:lnTo>
                  <a:close/>
                </a:path>
              </a:pathLst>
            </a:custGeom>
            <a:solidFill>
              <a:srgbClr val="F5812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61" y="-18"/>
            <a:ext cx="6344796" cy="533398"/>
          </a:xfrm>
          <a:custGeom>
            <a:avLst/>
            <a:gdLst/>
            <a:ahLst/>
            <a:cxnLst/>
            <a:rect r="r" b="b" t="t" l="l"/>
            <a:pathLst>
              <a:path h="533398" w="6344796">
                <a:moveTo>
                  <a:pt x="0" y="0"/>
                </a:moveTo>
                <a:lnTo>
                  <a:pt x="6344797" y="0"/>
                </a:lnTo>
                <a:lnTo>
                  <a:pt x="6344797" y="533398"/>
                </a:lnTo>
                <a:lnTo>
                  <a:pt x="0" y="5333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708255" y="-3"/>
            <a:ext cx="10579733" cy="9462002"/>
          </a:xfrm>
          <a:custGeom>
            <a:avLst/>
            <a:gdLst/>
            <a:ahLst/>
            <a:cxnLst/>
            <a:rect r="r" b="b" t="t" l="l"/>
            <a:pathLst>
              <a:path h="9462002" w="10579733">
                <a:moveTo>
                  <a:pt x="0" y="0"/>
                </a:moveTo>
                <a:lnTo>
                  <a:pt x="10579733" y="0"/>
                </a:lnTo>
                <a:lnTo>
                  <a:pt x="10579733" y="9462002"/>
                </a:lnTo>
                <a:lnTo>
                  <a:pt x="0" y="94620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081402" y="3454419"/>
            <a:ext cx="5180336" cy="2952747"/>
          </a:xfrm>
          <a:custGeom>
            <a:avLst/>
            <a:gdLst/>
            <a:ahLst/>
            <a:cxnLst/>
            <a:rect r="r" b="b" t="t" l="l"/>
            <a:pathLst>
              <a:path h="2952747" w="5180336">
                <a:moveTo>
                  <a:pt x="0" y="0"/>
                </a:moveTo>
                <a:lnTo>
                  <a:pt x="5180336" y="0"/>
                </a:lnTo>
                <a:lnTo>
                  <a:pt x="5180336" y="2952747"/>
                </a:lnTo>
                <a:lnTo>
                  <a:pt x="0" y="295274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129036" y="4720933"/>
            <a:ext cx="7273776" cy="795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4"/>
              </a:lnSpc>
            </a:pPr>
            <a:r>
              <a:rPr lang="en-US" sz="4203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POUR VOTRE ATTENTION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3818592"/>
            <a:ext cx="2407930" cy="1035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8"/>
              </a:lnSpc>
            </a:pPr>
            <a:r>
              <a:rPr lang="en-US" sz="5398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MERCI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097370" y="8491061"/>
            <a:ext cx="4244997" cy="766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23"/>
              </a:lnSpc>
            </a:pPr>
            <a:r>
              <a:rPr lang="en-US" sz="401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PRÉSENTATION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DAG8MOFhqXQ</dc:identifier>
  <dcterms:modified xsi:type="dcterms:W3CDTF">2011-08-01T06:04:30Z</dcterms:modified>
  <cp:revision>1</cp:revision>
  <dc:title>PFE Aziz Ben Ismail.pdf (1).pptx</dc:title>
</cp:coreProperties>
</file>